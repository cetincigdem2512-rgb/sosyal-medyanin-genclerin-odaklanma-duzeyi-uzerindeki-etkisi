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2"/>
  </p:notesMasterIdLst>
  <p:sldIdLst>
    <p:sldId id="256" r:id="rId2"/>
    <p:sldId id="257" r:id="rId3"/>
    <p:sldId id="258" r:id="rId4"/>
    <p:sldId id="259" r:id="rId5"/>
    <p:sldId id="260" r:id="rId6"/>
    <p:sldId id="268" r:id="rId7"/>
    <p:sldId id="261" r:id="rId8"/>
    <p:sldId id="269" r:id="rId9"/>
    <p:sldId id="262" r:id="rId10"/>
    <p:sldId id="270" r:id="rId11"/>
    <p:sldId id="263" r:id="rId12"/>
    <p:sldId id="271" r:id="rId13"/>
    <p:sldId id="264" r:id="rId14"/>
    <p:sldId id="272" r:id="rId15"/>
    <p:sldId id="265" r:id="rId16"/>
    <p:sldId id="273" r:id="rId17"/>
    <p:sldId id="266" r:id="rId18"/>
    <p:sldId id="274" r:id="rId19"/>
    <p:sldId id="267"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858000" cy="9144000"/>
  <p:embeddedFontLst>
    <p:embeddedFont>
      <p:font typeface="Roboto" panose="020000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5E85E0-4F2F-4A16-A030-6DDDB2B7824A}" v="10" dt="2025-11-26T18:02:18.9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6f9e470d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c6f9e470d_0_3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c6f9e470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aa2474a40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aa2474a40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c6f9e470d_0_12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c6f9e470d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a69c80fe6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a69c80fe6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aa2474a40a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aa2474a40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a69c80fe69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a69c80fe69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aa2474a40a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aa2474a40a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a69c80fe69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a69c80fe69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aa2474a40a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aa2474a40a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a69c80fe69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a69c80fe69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aa2474a40a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aa2474a40a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a69c80fe69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a69c80fe69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aa2474a40a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aa2474a40a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a69c80fe69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a69c80fe69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aa2474a40a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3aa2474a40a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a69c80fe69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a69c80fe69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aa2474a40a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3aa2474a40a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a69c80fe69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a69c80fe69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aa2474a40a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aa2474a40a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aa2474a40a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3aa2474a40a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aa2474a40a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aa2474a40a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aa2474a40a_0_1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aa2474a40a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aa2474a40a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aa2474a40a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aa2474a40a_0_1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aa2474a40a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aa2474a40a_0_1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aa2474a40a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aa2474a40a_0_1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aa2474a40a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a69c80fe69_0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a69c80fe69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a69c80fe69_0_1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a69c80fe69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a69c80fe69_0_1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3a69c80fe69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1600"/>
              </a:spcBef>
              <a:spcAft>
                <a:spcPts val="0"/>
              </a:spcAft>
              <a:buClr>
                <a:schemeClr val="lt1"/>
              </a:buClr>
              <a:buSzPts val="1400"/>
              <a:buChar char="○"/>
              <a:defRPr>
                <a:solidFill>
                  <a:schemeClr val="lt1"/>
                </a:solidFill>
              </a:defRPr>
            </a:lvl2pPr>
            <a:lvl3pPr marL="1371600" lvl="2" indent="-317500" algn="ctr">
              <a:spcBef>
                <a:spcPts val="1600"/>
              </a:spcBef>
              <a:spcAft>
                <a:spcPts val="0"/>
              </a:spcAft>
              <a:buClr>
                <a:schemeClr val="lt1"/>
              </a:buClr>
              <a:buSzPts val="1400"/>
              <a:buChar char="■"/>
              <a:defRPr>
                <a:solidFill>
                  <a:schemeClr val="lt1"/>
                </a:solidFill>
              </a:defRPr>
            </a:lvl3pPr>
            <a:lvl4pPr marL="1828800" lvl="3" indent="-317500" algn="ctr">
              <a:spcBef>
                <a:spcPts val="1600"/>
              </a:spcBef>
              <a:spcAft>
                <a:spcPts val="0"/>
              </a:spcAft>
              <a:buClr>
                <a:schemeClr val="lt1"/>
              </a:buClr>
              <a:buSzPts val="1400"/>
              <a:buChar char="●"/>
              <a:defRPr>
                <a:solidFill>
                  <a:schemeClr val="lt1"/>
                </a:solidFill>
              </a:defRPr>
            </a:lvl4pPr>
            <a:lvl5pPr marL="2286000" lvl="4" indent="-317500" algn="ctr">
              <a:spcBef>
                <a:spcPts val="1600"/>
              </a:spcBef>
              <a:spcAft>
                <a:spcPts val="0"/>
              </a:spcAft>
              <a:buClr>
                <a:schemeClr val="lt1"/>
              </a:buClr>
              <a:buSzPts val="1400"/>
              <a:buChar char="○"/>
              <a:defRPr>
                <a:solidFill>
                  <a:schemeClr val="lt1"/>
                </a:solidFill>
              </a:defRPr>
            </a:lvl5pPr>
            <a:lvl6pPr marL="2743200" lvl="5" indent="-317500" algn="ctr">
              <a:spcBef>
                <a:spcPts val="1600"/>
              </a:spcBef>
              <a:spcAft>
                <a:spcPts val="0"/>
              </a:spcAft>
              <a:buClr>
                <a:schemeClr val="lt1"/>
              </a:buClr>
              <a:buSzPts val="1400"/>
              <a:buChar char="■"/>
              <a:defRPr>
                <a:solidFill>
                  <a:schemeClr val="lt1"/>
                </a:solidFill>
              </a:defRPr>
            </a:lvl6pPr>
            <a:lvl7pPr marL="3200400" lvl="6" indent="-317500" algn="ctr">
              <a:spcBef>
                <a:spcPts val="1600"/>
              </a:spcBef>
              <a:spcAft>
                <a:spcPts val="0"/>
              </a:spcAft>
              <a:buClr>
                <a:schemeClr val="lt1"/>
              </a:buClr>
              <a:buSzPts val="1400"/>
              <a:buChar char="●"/>
              <a:defRPr>
                <a:solidFill>
                  <a:schemeClr val="lt1"/>
                </a:solidFill>
              </a:defRPr>
            </a:lvl7pPr>
            <a:lvl8pPr marL="3657600" lvl="7" indent="-317500" algn="ctr">
              <a:spcBef>
                <a:spcPts val="1600"/>
              </a:spcBef>
              <a:spcAft>
                <a:spcPts val="0"/>
              </a:spcAft>
              <a:buClr>
                <a:schemeClr val="lt1"/>
              </a:buClr>
              <a:buSzPts val="1400"/>
              <a:buChar char="○"/>
              <a:defRPr>
                <a:solidFill>
                  <a:schemeClr val="lt1"/>
                </a:solidFill>
              </a:defRPr>
            </a:lvl8pPr>
            <a:lvl9pPr marL="4114800" lvl="8" indent="-317500" algn="ctr">
              <a:spcBef>
                <a:spcPts val="1600"/>
              </a:spcBef>
              <a:spcAft>
                <a:spcPts val="160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t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39.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p13"/>
          <p:cNvPicPr preferRelativeResize="0"/>
          <p:nvPr/>
        </p:nvPicPr>
        <p:blipFill>
          <a:blip r:embed="rId3">
            <a:alphaModFix/>
          </a:blip>
          <a:stretch>
            <a:fillRect/>
          </a:stretch>
        </p:blipFill>
        <p:spPr>
          <a:xfrm rot="29">
            <a:off x="4382231" y="2671785"/>
            <a:ext cx="2107450" cy="2107407"/>
          </a:xfrm>
          <a:prstGeom prst="rect">
            <a:avLst/>
          </a:prstGeom>
          <a:noFill/>
          <a:ln>
            <a:noFill/>
          </a:ln>
        </p:spPr>
      </p:pic>
      <p:sp>
        <p:nvSpPr>
          <p:cNvPr id="86" name="Google Shape;86;p13"/>
          <p:cNvSpPr txBox="1">
            <a:spLocks noGrp="1"/>
          </p:cNvSpPr>
          <p:nvPr>
            <p:ph type="ctrTitle"/>
          </p:nvPr>
        </p:nvSpPr>
        <p:spPr>
          <a:xfrm>
            <a:off x="460950" y="1470597"/>
            <a:ext cx="8222100" cy="83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tr" b="1"/>
              <a:t>Sosyal Medyanın Gençlerin Odaklanma Düzeyi Üzerindeki Etkisi</a:t>
            </a:r>
            <a:endParaRPr b="1"/>
          </a:p>
        </p:txBody>
      </p:sp>
      <p:sp>
        <p:nvSpPr>
          <p:cNvPr id="87" name="Google Shape;87;p13"/>
          <p:cNvSpPr txBox="1">
            <a:spLocks noGrp="1"/>
          </p:cNvSpPr>
          <p:nvPr>
            <p:ph type="subTitle" idx="1"/>
          </p:nvPr>
        </p:nvSpPr>
        <p:spPr>
          <a:xfrm>
            <a:off x="410613" y="2238875"/>
            <a:ext cx="8222100" cy="4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 b="1"/>
              <a:t>Çiğdem Çetin</a:t>
            </a:r>
            <a:endParaRPr b="1"/>
          </a:p>
          <a:p>
            <a:pPr marL="0" lvl="0" indent="0" algn="l" rtl="0">
              <a:spcBef>
                <a:spcPts val="0"/>
              </a:spcBef>
              <a:spcAft>
                <a:spcPts val="0"/>
              </a:spcAft>
              <a:buNone/>
            </a:pPr>
            <a:r>
              <a:rPr lang="tr" b="1"/>
              <a:t>Berkay Berk</a:t>
            </a:r>
            <a:endParaRPr b="1"/>
          </a:p>
          <a:p>
            <a:pPr marL="0" lvl="0" indent="0" algn="l" rtl="0">
              <a:spcBef>
                <a:spcPts val="0"/>
              </a:spcBef>
              <a:spcAft>
                <a:spcPts val="0"/>
              </a:spcAft>
              <a:buNone/>
            </a:pPr>
            <a:r>
              <a:rPr lang="tr" b="1"/>
              <a:t>Hilal Kalkan</a:t>
            </a:r>
            <a:endParaRPr b="1"/>
          </a:p>
        </p:txBody>
      </p:sp>
      <p:pic>
        <p:nvPicPr>
          <p:cNvPr id="88" name="Google Shape;88;p13"/>
          <p:cNvPicPr preferRelativeResize="0"/>
          <p:nvPr/>
        </p:nvPicPr>
        <p:blipFill>
          <a:blip r:embed="rId4">
            <a:alphaModFix/>
          </a:blip>
          <a:stretch>
            <a:fillRect/>
          </a:stretch>
        </p:blipFill>
        <p:spPr>
          <a:xfrm>
            <a:off x="7123650" y="2004050"/>
            <a:ext cx="1853450" cy="1853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4"/>
          <p:cNvSpPr txBox="1">
            <a:spLocks noGrp="1"/>
          </p:cNvSpPr>
          <p:nvPr>
            <p:ph type="title"/>
          </p:nvPr>
        </p:nvSpPr>
        <p:spPr>
          <a:xfrm>
            <a:off x="205500" y="421775"/>
            <a:ext cx="4366500" cy="156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tr" b="1"/>
              <a:t>Araştırmada Hangi Yöntemi Kullandık?</a:t>
            </a:r>
            <a:endParaRPr b="1"/>
          </a:p>
        </p:txBody>
      </p:sp>
      <p:sp>
        <p:nvSpPr>
          <p:cNvPr id="94" name="Google Shape;94;p14"/>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tr"/>
              <a:t> </a:t>
            </a:r>
            <a:endParaRPr/>
          </a:p>
        </p:txBody>
      </p:sp>
      <p:sp>
        <p:nvSpPr>
          <p:cNvPr id="95" name="Google Shape;95;p14"/>
          <p:cNvSpPr txBox="1">
            <a:spLocks noGrp="1"/>
          </p:cNvSpPr>
          <p:nvPr>
            <p:ph type="title"/>
          </p:nvPr>
        </p:nvSpPr>
        <p:spPr>
          <a:xfrm>
            <a:off x="4893475" y="0"/>
            <a:ext cx="4045200" cy="156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tr" b="1">
                <a:solidFill>
                  <a:srgbClr val="FFFFFF"/>
                </a:solidFill>
              </a:rPr>
              <a:t>Neden Anket?</a:t>
            </a:r>
            <a:endParaRPr b="1">
              <a:solidFill>
                <a:srgbClr val="FFFFFF"/>
              </a:solidFill>
            </a:endParaRPr>
          </a:p>
        </p:txBody>
      </p:sp>
      <p:pic>
        <p:nvPicPr>
          <p:cNvPr id="96" name="Google Shape;96;p14"/>
          <p:cNvPicPr preferRelativeResize="0"/>
          <p:nvPr/>
        </p:nvPicPr>
        <p:blipFill>
          <a:blip r:embed="rId3">
            <a:alphaModFix/>
          </a:blip>
          <a:stretch>
            <a:fillRect/>
          </a:stretch>
        </p:blipFill>
        <p:spPr>
          <a:xfrm>
            <a:off x="374075" y="2769000"/>
            <a:ext cx="2030300" cy="2030300"/>
          </a:xfrm>
          <a:prstGeom prst="rect">
            <a:avLst/>
          </a:prstGeom>
          <a:noFill/>
          <a:ln>
            <a:noFill/>
          </a:ln>
        </p:spPr>
      </p:pic>
      <p:pic>
        <p:nvPicPr>
          <p:cNvPr id="97" name="Google Shape;97;p14"/>
          <p:cNvPicPr preferRelativeResize="0"/>
          <p:nvPr/>
        </p:nvPicPr>
        <p:blipFill>
          <a:blip r:embed="rId4">
            <a:alphaModFix/>
          </a:blip>
          <a:stretch>
            <a:fillRect/>
          </a:stretch>
        </p:blipFill>
        <p:spPr>
          <a:xfrm>
            <a:off x="5614825" y="2023050"/>
            <a:ext cx="2761201" cy="27612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title"/>
          </p:nvPr>
        </p:nvSpPr>
        <p:spPr>
          <a:xfrm>
            <a:off x="265500" y="7895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tr" b="1"/>
              <a:t>Bu Ankette Neler Var?</a:t>
            </a:r>
            <a:endParaRPr b="1"/>
          </a:p>
        </p:txBody>
      </p:sp>
      <p:sp>
        <p:nvSpPr>
          <p:cNvPr id="103" name="Google Shape;103;p15"/>
          <p:cNvSpPr txBox="1"/>
          <p:nvPr/>
        </p:nvSpPr>
        <p:spPr>
          <a:xfrm>
            <a:off x="4572000" y="339075"/>
            <a:ext cx="4674600" cy="357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tr" sz="3000" b="1">
                <a:solidFill>
                  <a:schemeClr val="lt1"/>
                </a:solidFill>
                <a:latin typeface="Roboto"/>
                <a:ea typeface="Roboto"/>
                <a:cs typeface="Roboto"/>
                <a:sym typeface="Roboto"/>
              </a:rPr>
              <a:t>-Gençlerin sosyal medyayı kullanma süreleri</a:t>
            </a:r>
            <a:endParaRPr sz="3000" b="1">
              <a:solidFill>
                <a:schemeClr val="lt1"/>
              </a:solidFill>
              <a:latin typeface="Roboto"/>
              <a:ea typeface="Roboto"/>
              <a:cs typeface="Roboto"/>
              <a:sym typeface="Roboto"/>
            </a:endParaRPr>
          </a:p>
          <a:p>
            <a:pPr marL="0" lvl="0" indent="0" algn="l" rtl="0">
              <a:spcBef>
                <a:spcPts val="0"/>
              </a:spcBef>
              <a:spcAft>
                <a:spcPts val="0"/>
              </a:spcAft>
              <a:buNone/>
            </a:pPr>
            <a:r>
              <a:rPr lang="tr" sz="3000" b="1">
                <a:solidFill>
                  <a:schemeClr val="lt1"/>
                </a:solidFill>
                <a:latin typeface="Roboto"/>
                <a:ea typeface="Roboto"/>
                <a:cs typeface="Roboto"/>
                <a:sym typeface="Roboto"/>
              </a:rPr>
              <a:t>-Kullanma nedenleri</a:t>
            </a:r>
            <a:endParaRPr sz="3000" b="1">
              <a:solidFill>
                <a:schemeClr val="lt1"/>
              </a:solidFill>
              <a:latin typeface="Roboto"/>
              <a:ea typeface="Roboto"/>
              <a:cs typeface="Roboto"/>
              <a:sym typeface="Roboto"/>
            </a:endParaRPr>
          </a:p>
          <a:p>
            <a:pPr marL="0" lvl="0" indent="0" algn="l" rtl="0">
              <a:spcBef>
                <a:spcPts val="0"/>
              </a:spcBef>
              <a:spcAft>
                <a:spcPts val="0"/>
              </a:spcAft>
              <a:buNone/>
            </a:pPr>
            <a:r>
              <a:rPr lang="tr" sz="3000" b="1">
                <a:solidFill>
                  <a:schemeClr val="lt1"/>
                </a:solidFill>
                <a:latin typeface="Roboto"/>
                <a:ea typeface="Roboto"/>
                <a:cs typeface="Roboto"/>
                <a:sym typeface="Roboto"/>
              </a:rPr>
              <a:t>-Tercih ettikleri uygulamalar &amp; daha fazlası</a:t>
            </a:r>
            <a:endParaRPr sz="3000" b="1">
              <a:solidFill>
                <a:schemeClr val="lt1"/>
              </a:solidFill>
              <a:latin typeface="Roboto"/>
              <a:ea typeface="Roboto"/>
              <a:cs typeface="Roboto"/>
              <a:sym typeface="Roboto"/>
            </a:endParaRPr>
          </a:p>
        </p:txBody>
      </p:sp>
      <p:pic>
        <p:nvPicPr>
          <p:cNvPr id="104" name="Google Shape;104;p15"/>
          <p:cNvPicPr preferRelativeResize="0"/>
          <p:nvPr/>
        </p:nvPicPr>
        <p:blipFill>
          <a:blip r:embed="rId3">
            <a:alphaModFix/>
          </a:blip>
          <a:stretch>
            <a:fillRect/>
          </a:stretch>
        </p:blipFill>
        <p:spPr>
          <a:xfrm>
            <a:off x="152400" y="1546250"/>
            <a:ext cx="1965850" cy="1965850"/>
          </a:xfrm>
          <a:prstGeom prst="rect">
            <a:avLst/>
          </a:prstGeom>
          <a:noFill/>
          <a:ln>
            <a:noFill/>
          </a:ln>
        </p:spPr>
      </p:pic>
      <p:pic>
        <p:nvPicPr>
          <p:cNvPr id="105" name="Google Shape;105;p15"/>
          <p:cNvPicPr preferRelativeResize="0"/>
          <p:nvPr/>
        </p:nvPicPr>
        <p:blipFill>
          <a:blip r:embed="rId4">
            <a:alphaModFix/>
          </a:blip>
          <a:stretch>
            <a:fillRect/>
          </a:stretch>
        </p:blipFill>
        <p:spPr>
          <a:xfrm>
            <a:off x="2270650" y="2665175"/>
            <a:ext cx="2148951" cy="21489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6"/>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tr" b="1"/>
              <a:t>Anketin Sonuçları</a:t>
            </a:r>
            <a:endParaRPr b="1"/>
          </a:p>
        </p:txBody>
      </p:sp>
      <p:pic>
        <p:nvPicPr>
          <p:cNvPr id="111" name="Google Shape;111;p16"/>
          <p:cNvPicPr preferRelativeResize="0"/>
          <p:nvPr/>
        </p:nvPicPr>
        <p:blipFill>
          <a:blip r:embed="rId3">
            <a:alphaModFix/>
          </a:blip>
          <a:stretch>
            <a:fillRect/>
          </a:stretch>
        </p:blipFill>
        <p:spPr>
          <a:xfrm>
            <a:off x="5318400" y="876425"/>
            <a:ext cx="3250051" cy="32500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5"/>
        <p:cNvGrpSpPr/>
        <p:nvPr/>
      </p:nvGrpSpPr>
      <p:grpSpPr>
        <a:xfrm>
          <a:off x="0" y="0"/>
          <a:ext cx="0" cy="0"/>
          <a:chOff x="0" y="0"/>
          <a:chExt cx="0" cy="0"/>
        </a:xfrm>
      </p:grpSpPr>
      <p:sp>
        <p:nvSpPr>
          <p:cNvPr id="116" name="Google Shape;116;p17"/>
          <p:cNvSpPr txBox="1"/>
          <p:nvPr/>
        </p:nvSpPr>
        <p:spPr>
          <a:xfrm>
            <a:off x="0" y="110125"/>
            <a:ext cx="54246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rgbClr val="3366CC"/>
                </a:solidFill>
                <a:highlight>
                  <a:srgbClr val="FFFFFF"/>
                </a:highlight>
                <a:latin typeface="Roboto"/>
                <a:ea typeface="Roboto"/>
                <a:cs typeface="Roboto"/>
                <a:sym typeface="Roboto"/>
              </a:rPr>
              <a:t>Bir günde kaç saat sosyal medya kullanıyorsunuz?</a:t>
            </a:r>
            <a:endParaRPr sz="3000" b="1">
              <a:solidFill>
                <a:srgbClr val="3366CC"/>
              </a:solidFill>
              <a:highlight>
                <a:srgbClr val="FFFFFF"/>
              </a:highlight>
              <a:latin typeface="Roboto"/>
              <a:ea typeface="Roboto"/>
              <a:cs typeface="Roboto"/>
              <a:sym typeface="Roboto"/>
            </a:endParaRPr>
          </a:p>
          <a:p>
            <a:pPr marL="0" lvl="0" indent="0" algn="l" rtl="0">
              <a:lnSpc>
                <a:spcPct val="150000"/>
              </a:lnSpc>
              <a:spcBef>
                <a:spcPts val="0"/>
              </a:spcBef>
              <a:spcAft>
                <a:spcPts val="0"/>
              </a:spcAft>
              <a:buNone/>
            </a:pPr>
            <a:endParaRPr sz="1200">
              <a:solidFill>
                <a:srgbClr val="202124"/>
              </a:solidFill>
              <a:highlight>
                <a:srgbClr val="FFFFFF"/>
              </a:highlight>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p:txBody>
      </p:sp>
      <p:pic>
        <p:nvPicPr>
          <p:cNvPr id="117" name="Google Shape;117;p17"/>
          <p:cNvPicPr preferRelativeResize="0"/>
          <p:nvPr/>
        </p:nvPicPr>
        <p:blipFill>
          <a:blip r:embed="rId3">
            <a:alphaModFix/>
          </a:blip>
          <a:stretch>
            <a:fillRect/>
          </a:stretch>
        </p:blipFill>
        <p:spPr>
          <a:xfrm>
            <a:off x="93725" y="1210150"/>
            <a:ext cx="4126425" cy="3498750"/>
          </a:xfrm>
          <a:prstGeom prst="rect">
            <a:avLst/>
          </a:prstGeom>
          <a:noFill/>
          <a:ln>
            <a:noFill/>
          </a:ln>
        </p:spPr>
      </p:pic>
      <p:sp>
        <p:nvSpPr>
          <p:cNvPr id="118" name="Google Shape;118;p17"/>
          <p:cNvSpPr txBox="1"/>
          <p:nvPr/>
        </p:nvSpPr>
        <p:spPr>
          <a:xfrm>
            <a:off x="4817775" y="906825"/>
            <a:ext cx="2542500" cy="2542500"/>
          </a:xfrm>
          <a:prstGeom prst="rect">
            <a:avLst/>
          </a:prstGeom>
          <a:noFill/>
          <a:ln w="9525" cap="flat" cmpd="sng">
            <a:solidFill>
              <a:srgbClr val="109618"/>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tr" sz="3100" b="1">
                <a:solidFill>
                  <a:srgbClr val="109618"/>
                </a:solidFill>
                <a:latin typeface="Roboto"/>
                <a:ea typeface="Roboto"/>
                <a:cs typeface="Roboto"/>
                <a:sym typeface="Roboto"/>
              </a:rPr>
              <a:t>4+ Saat =30</a:t>
            </a:r>
            <a:endParaRPr sz="3100" b="1">
              <a:solidFill>
                <a:srgbClr val="109618"/>
              </a:solidFill>
              <a:latin typeface="Roboto"/>
              <a:ea typeface="Roboto"/>
              <a:cs typeface="Roboto"/>
              <a:sym typeface="Roboto"/>
            </a:endParaRPr>
          </a:p>
          <a:p>
            <a:pPr marL="0" lvl="0" indent="0" algn="l" rtl="0">
              <a:spcBef>
                <a:spcPts val="0"/>
              </a:spcBef>
              <a:spcAft>
                <a:spcPts val="0"/>
              </a:spcAft>
              <a:buNone/>
            </a:pPr>
            <a:r>
              <a:rPr lang="tr" sz="3100" b="1">
                <a:solidFill>
                  <a:srgbClr val="FF9900"/>
                </a:solidFill>
                <a:latin typeface="Roboto"/>
                <a:ea typeface="Roboto"/>
                <a:cs typeface="Roboto"/>
                <a:sym typeface="Roboto"/>
              </a:rPr>
              <a:t>2-3 Saat =11</a:t>
            </a:r>
            <a:endParaRPr sz="3100" b="1">
              <a:solidFill>
                <a:srgbClr val="FF9900"/>
              </a:solidFill>
              <a:latin typeface="Roboto"/>
              <a:ea typeface="Roboto"/>
              <a:cs typeface="Roboto"/>
              <a:sym typeface="Roboto"/>
            </a:endParaRPr>
          </a:p>
          <a:p>
            <a:pPr marL="0" lvl="0" indent="0" algn="l" rtl="0">
              <a:spcBef>
                <a:spcPts val="0"/>
              </a:spcBef>
              <a:spcAft>
                <a:spcPts val="0"/>
              </a:spcAft>
              <a:buNone/>
            </a:pPr>
            <a:r>
              <a:rPr lang="tr" sz="3100" b="1">
                <a:solidFill>
                  <a:srgbClr val="FF0000"/>
                </a:solidFill>
                <a:latin typeface="Roboto"/>
                <a:ea typeface="Roboto"/>
                <a:cs typeface="Roboto"/>
                <a:sym typeface="Roboto"/>
              </a:rPr>
              <a:t>1-2 Saat = 7</a:t>
            </a:r>
            <a:endParaRPr sz="3100" b="1">
              <a:solidFill>
                <a:srgbClr val="FF0000"/>
              </a:solidFill>
              <a:latin typeface="Roboto"/>
              <a:ea typeface="Roboto"/>
              <a:cs typeface="Roboto"/>
              <a:sym typeface="Roboto"/>
            </a:endParaRPr>
          </a:p>
          <a:p>
            <a:pPr marL="0" lvl="0" indent="0" algn="l" rtl="0">
              <a:spcBef>
                <a:spcPts val="0"/>
              </a:spcBef>
              <a:spcAft>
                <a:spcPts val="0"/>
              </a:spcAft>
              <a:buNone/>
            </a:pPr>
            <a:r>
              <a:rPr lang="tr" sz="3100" b="1">
                <a:solidFill>
                  <a:srgbClr val="8190D1"/>
                </a:solidFill>
                <a:latin typeface="Roboto"/>
                <a:ea typeface="Roboto"/>
                <a:cs typeface="Roboto"/>
                <a:sym typeface="Roboto"/>
              </a:rPr>
              <a:t>0-1 Saat = 5</a:t>
            </a:r>
            <a:endParaRPr sz="3100" b="1">
              <a:solidFill>
                <a:srgbClr val="8190D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5"/>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a:p>
        </p:txBody>
      </p:sp>
      <p:sp>
        <p:nvSpPr>
          <p:cNvPr id="175" name="Google Shape;175;p25"/>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
        <p:nvSpPr>
          <p:cNvPr id="176" name="Google Shape;176;p25"/>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endParaRPr/>
          </a:p>
        </p:txBody>
      </p:sp>
      <p:pic>
        <p:nvPicPr>
          <p:cNvPr id="177" name="Google Shape;177;p25"/>
          <p:cNvPicPr preferRelativeResize="0"/>
          <p:nvPr/>
        </p:nvPicPr>
        <p:blipFill>
          <a:blip r:embed="rId3">
            <a:alphaModFix/>
          </a:blip>
          <a:stretch>
            <a:fillRect/>
          </a:stretch>
        </p:blipFill>
        <p:spPr>
          <a:xfrm>
            <a:off x="457200" y="233363"/>
            <a:ext cx="8229600" cy="4676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
        <p:cNvGrpSpPr/>
        <p:nvPr/>
      </p:nvGrpSpPr>
      <p:grpSpPr>
        <a:xfrm>
          <a:off x="0" y="0"/>
          <a:ext cx="0" cy="0"/>
          <a:chOff x="0" y="0"/>
          <a:chExt cx="0" cy="0"/>
        </a:xfrm>
      </p:grpSpPr>
      <p:sp>
        <p:nvSpPr>
          <p:cNvPr id="123" name="Google Shape;123;p18"/>
          <p:cNvSpPr txBox="1"/>
          <p:nvPr/>
        </p:nvSpPr>
        <p:spPr>
          <a:xfrm>
            <a:off x="58575" y="133550"/>
            <a:ext cx="4513500" cy="2862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rgbClr val="3366CC"/>
                </a:solidFill>
                <a:latin typeface="Roboto"/>
                <a:ea typeface="Roboto"/>
                <a:cs typeface="Roboto"/>
                <a:sym typeface="Roboto"/>
              </a:rPr>
              <a:t> Sosyal Medyayı en çok hangi amaçla kullanıyorsunuz?</a:t>
            </a:r>
            <a:endParaRPr sz="3000" b="1">
              <a:solidFill>
                <a:srgbClr val="3366CC"/>
              </a:solidFill>
              <a:latin typeface="Roboto"/>
              <a:ea typeface="Roboto"/>
              <a:cs typeface="Roboto"/>
              <a:sym typeface="Roboto"/>
            </a:endParaRPr>
          </a:p>
          <a:p>
            <a:pPr marL="0" lvl="0" indent="0" algn="l" rtl="0">
              <a:lnSpc>
                <a:spcPct val="150000"/>
              </a:lnSpc>
              <a:spcBef>
                <a:spcPts val="0"/>
              </a:spcBef>
              <a:spcAft>
                <a:spcPts val="0"/>
              </a:spcAft>
              <a:buNone/>
            </a:pPr>
            <a:endParaRPr sz="1200">
              <a:solidFill>
                <a:srgbClr val="202124"/>
              </a:solidFill>
              <a:highlight>
                <a:srgbClr val="FFFFFF"/>
              </a:highlight>
              <a:latin typeface="Roboto"/>
              <a:ea typeface="Roboto"/>
              <a:cs typeface="Roboto"/>
              <a:sym typeface="Roboto"/>
            </a:endParaRPr>
          </a:p>
          <a:p>
            <a:pPr marL="0" lvl="0" indent="0" algn="l" rtl="0">
              <a:spcBef>
                <a:spcPts val="0"/>
              </a:spcBef>
              <a:spcAft>
                <a:spcPts val="0"/>
              </a:spcAft>
              <a:buNone/>
            </a:pPr>
            <a:endParaRPr sz="3000" b="1">
              <a:solidFill>
                <a:srgbClr val="0000FF"/>
              </a:solidFill>
              <a:highlight>
                <a:srgbClr val="FFFFFF"/>
              </a:highlight>
              <a:latin typeface="Roboto"/>
              <a:ea typeface="Roboto"/>
              <a:cs typeface="Roboto"/>
              <a:sym typeface="Roboto"/>
            </a:endParaRPr>
          </a:p>
          <a:p>
            <a:pPr marL="0" lvl="0" indent="0" algn="l" rtl="0">
              <a:lnSpc>
                <a:spcPct val="150000"/>
              </a:lnSpc>
              <a:spcBef>
                <a:spcPts val="0"/>
              </a:spcBef>
              <a:spcAft>
                <a:spcPts val="0"/>
              </a:spcAft>
              <a:buNone/>
            </a:pPr>
            <a:endParaRPr sz="1200">
              <a:solidFill>
                <a:srgbClr val="202124"/>
              </a:solidFill>
              <a:highlight>
                <a:srgbClr val="FFFFFF"/>
              </a:highlight>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p:txBody>
      </p:sp>
      <p:sp>
        <p:nvSpPr>
          <p:cNvPr id="124" name="Google Shape;124;p18"/>
          <p:cNvSpPr txBox="1"/>
          <p:nvPr/>
        </p:nvSpPr>
        <p:spPr>
          <a:xfrm>
            <a:off x="5145825" y="801350"/>
            <a:ext cx="3198600" cy="2542500"/>
          </a:xfrm>
          <a:prstGeom prst="rect">
            <a:avLst/>
          </a:prstGeom>
          <a:noFill/>
          <a:ln w="9525" cap="flat" cmpd="sng">
            <a:solidFill>
              <a:srgbClr val="109618"/>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tr" sz="2200" b="1">
                <a:solidFill>
                  <a:srgbClr val="990099"/>
                </a:solidFill>
                <a:latin typeface="Roboto"/>
                <a:ea typeface="Roboto"/>
                <a:cs typeface="Roboto"/>
                <a:sym typeface="Roboto"/>
              </a:rPr>
              <a:t>Eğlence için = 27</a:t>
            </a:r>
            <a:endParaRPr sz="2200" b="1">
              <a:solidFill>
                <a:srgbClr val="990099"/>
              </a:solidFill>
              <a:latin typeface="Roboto"/>
              <a:ea typeface="Roboto"/>
              <a:cs typeface="Roboto"/>
              <a:sym typeface="Roboto"/>
            </a:endParaRPr>
          </a:p>
          <a:p>
            <a:pPr marL="0" lvl="0" indent="0" algn="l" rtl="0">
              <a:spcBef>
                <a:spcPts val="0"/>
              </a:spcBef>
              <a:spcAft>
                <a:spcPts val="0"/>
              </a:spcAft>
              <a:buNone/>
            </a:pPr>
            <a:r>
              <a:rPr lang="tr" sz="2200" b="1">
                <a:solidFill>
                  <a:srgbClr val="3366CC"/>
                </a:solidFill>
                <a:latin typeface="Roboto"/>
                <a:ea typeface="Roboto"/>
                <a:cs typeface="Roboto"/>
                <a:sym typeface="Roboto"/>
              </a:rPr>
              <a:t>Aile ve arkadaşlarla temasta kalmak için = 11</a:t>
            </a:r>
            <a:endParaRPr sz="2200" b="1">
              <a:solidFill>
                <a:srgbClr val="3366CC"/>
              </a:solidFill>
              <a:latin typeface="Roboto"/>
              <a:ea typeface="Roboto"/>
              <a:cs typeface="Roboto"/>
              <a:sym typeface="Roboto"/>
            </a:endParaRPr>
          </a:p>
          <a:p>
            <a:pPr marL="0" lvl="0" indent="0" algn="l" rtl="0">
              <a:spcBef>
                <a:spcPts val="0"/>
              </a:spcBef>
              <a:spcAft>
                <a:spcPts val="0"/>
              </a:spcAft>
              <a:buNone/>
            </a:pPr>
            <a:r>
              <a:rPr lang="tr" sz="2200" b="1">
                <a:solidFill>
                  <a:srgbClr val="FF0000"/>
                </a:solidFill>
                <a:latin typeface="Roboto"/>
                <a:ea typeface="Roboto"/>
                <a:cs typeface="Roboto"/>
                <a:sym typeface="Roboto"/>
              </a:rPr>
              <a:t>Gündemi takip etmek için = 8</a:t>
            </a:r>
            <a:endParaRPr sz="2200" b="1">
              <a:solidFill>
                <a:srgbClr val="FF0000"/>
              </a:solidFill>
              <a:latin typeface="Roboto"/>
              <a:ea typeface="Roboto"/>
              <a:cs typeface="Roboto"/>
              <a:sym typeface="Roboto"/>
            </a:endParaRPr>
          </a:p>
          <a:p>
            <a:pPr marL="0" lvl="0" indent="0" algn="l" rtl="0">
              <a:spcBef>
                <a:spcPts val="0"/>
              </a:spcBef>
              <a:spcAft>
                <a:spcPts val="0"/>
              </a:spcAft>
              <a:buNone/>
            </a:pPr>
            <a:r>
              <a:rPr lang="tr" sz="2200" b="1">
                <a:solidFill>
                  <a:srgbClr val="FF9900"/>
                </a:solidFill>
                <a:latin typeface="Roboto"/>
                <a:ea typeface="Roboto"/>
                <a:cs typeface="Roboto"/>
                <a:sym typeface="Roboto"/>
              </a:rPr>
              <a:t>Öğrenme ve kişisel gelişim için = 5</a:t>
            </a:r>
            <a:endParaRPr sz="2200" b="1">
              <a:solidFill>
                <a:srgbClr val="FF9900"/>
              </a:solidFill>
              <a:latin typeface="Roboto"/>
              <a:ea typeface="Roboto"/>
              <a:cs typeface="Roboto"/>
              <a:sym typeface="Roboto"/>
            </a:endParaRPr>
          </a:p>
          <a:p>
            <a:pPr marL="0" lvl="0" indent="0" algn="l" rtl="0">
              <a:spcBef>
                <a:spcPts val="0"/>
              </a:spcBef>
              <a:spcAft>
                <a:spcPts val="0"/>
              </a:spcAft>
              <a:buNone/>
            </a:pPr>
            <a:r>
              <a:rPr lang="tr" sz="2200" b="1">
                <a:solidFill>
                  <a:srgbClr val="109618"/>
                </a:solidFill>
                <a:latin typeface="Roboto"/>
                <a:ea typeface="Roboto"/>
                <a:cs typeface="Roboto"/>
                <a:sym typeface="Roboto"/>
              </a:rPr>
              <a:t>Profesyonel Ağ kurmak için = 2</a:t>
            </a:r>
            <a:endParaRPr sz="2200" b="1">
              <a:solidFill>
                <a:srgbClr val="109618"/>
              </a:solidFill>
              <a:latin typeface="Roboto"/>
              <a:ea typeface="Roboto"/>
              <a:cs typeface="Roboto"/>
              <a:sym typeface="Roboto"/>
            </a:endParaRPr>
          </a:p>
        </p:txBody>
      </p:sp>
      <p:pic>
        <p:nvPicPr>
          <p:cNvPr id="125" name="Google Shape;125;p18"/>
          <p:cNvPicPr preferRelativeResize="0"/>
          <p:nvPr/>
        </p:nvPicPr>
        <p:blipFill>
          <a:blip r:embed="rId3">
            <a:alphaModFix/>
          </a:blip>
          <a:stretch>
            <a:fillRect/>
          </a:stretch>
        </p:blipFill>
        <p:spPr>
          <a:xfrm>
            <a:off x="175800" y="1602250"/>
            <a:ext cx="4114750" cy="3193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6"/>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a:p>
        </p:txBody>
      </p:sp>
      <p:sp>
        <p:nvSpPr>
          <p:cNvPr id="183" name="Google Shape;183;p26"/>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
        <p:nvSpPr>
          <p:cNvPr id="184" name="Google Shape;184;p26"/>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endParaRPr/>
          </a:p>
        </p:txBody>
      </p:sp>
      <p:pic>
        <p:nvPicPr>
          <p:cNvPr id="185" name="Google Shape;185;p26"/>
          <p:cNvPicPr preferRelativeResize="0"/>
          <p:nvPr/>
        </p:nvPicPr>
        <p:blipFill>
          <a:blip r:embed="rId3">
            <a:alphaModFix/>
          </a:blip>
          <a:stretch>
            <a:fillRect/>
          </a:stretch>
        </p:blipFill>
        <p:spPr>
          <a:xfrm>
            <a:off x="509588" y="257175"/>
            <a:ext cx="8124825" cy="4629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19"/>
          <p:cNvSpPr txBox="1"/>
          <p:nvPr/>
        </p:nvSpPr>
        <p:spPr>
          <a:xfrm>
            <a:off x="58575" y="133550"/>
            <a:ext cx="4513500" cy="4340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3000" b="1">
                <a:solidFill>
                  <a:srgbClr val="3366CC"/>
                </a:solidFill>
                <a:latin typeface="Roboto"/>
                <a:ea typeface="Roboto"/>
                <a:cs typeface="Roboto"/>
                <a:sym typeface="Roboto"/>
              </a:rPr>
              <a:t> </a:t>
            </a:r>
            <a:r>
              <a:rPr lang="tr" sz="3000" b="1">
                <a:solidFill>
                  <a:srgbClr val="3366CC"/>
                </a:solidFill>
                <a:highlight>
                  <a:srgbClr val="FFFFFF"/>
                </a:highlight>
                <a:latin typeface="Roboto"/>
                <a:ea typeface="Roboto"/>
                <a:cs typeface="Roboto"/>
                <a:sym typeface="Roboto"/>
              </a:rPr>
              <a:t>En çok hangi sosyal medya uygulamasını kullanıyorsunuz?</a:t>
            </a:r>
            <a:endParaRPr sz="3000" b="1">
              <a:solidFill>
                <a:srgbClr val="3366CC"/>
              </a:solidFill>
              <a:highlight>
                <a:srgbClr val="FFFFFF"/>
              </a:highlight>
              <a:latin typeface="Roboto"/>
              <a:ea typeface="Roboto"/>
              <a:cs typeface="Roboto"/>
              <a:sym typeface="Roboto"/>
            </a:endParaRPr>
          </a:p>
          <a:p>
            <a:pPr marL="0" lvl="0" indent="0" algn="l" rtl="0">
              <a:lnSpc>
                <a:spcPct val="150000"/>
              </a:lnSpc>
              <a:spcBef>
                <a:spcPts val="0"/>
              </a:spcBef>
              <a:spcAft>
                <a:spcPts val="0"/>
              </a:spcAft>
              <a:buNone/>
            </a:pPr>
            <a:endParaRPr sz="1200">
              <a:solidFill>
                <a:srgbClr val="202124"/>
              </a:solidFill>
              <a:highlight>
                <a:srgbClr val="FFFFFF"/>
              </a:highlight>
              <a:latin typeface="Roboto"/>
              <a:ea typeface="Roboto"/>
              <a:cs typeface="Roboto"/>
              <a:sym typeface="Roboto"/>
            </a:endParaRPr>
          </a:p>
          <a:p>
            <a:pPr marL="0" lvl="0" indent="0" algn="l" rtl="0">
              <a:spcBef>
                <a:spcPts val="0"/>
              </a:spcBef>
              <a:spcAft>
                <a:spcPts val="0"/>
              </a:spcAft>
              <a:buNone/>
            </a:pPr>
            <a:endParaRPr sz="3000" b="1">
              <a:solidFill>
                <a:srgbClr val="3366CC"/>
              </a:solidFill>
              <a:latin typeface="Roboto"/>
              <a:ea typeface="Roboto"/>
              <a:cs typeface="Roboto"/>
              <a:sym typeface="Roboto"/>
            </a:endParaRPr>
          </a:p>
          <a:p>
            <a:pPr marL="0" lvl="0" indent="0" algn="l" rtl="0">
              <a:lnSpc>
                <a:spcPct val="150000"/>
              </a:lnSpc>
              <a:spcBef>
                <a:spcPts val="0"/>
              </a:spcBef>
              <a:spcAft>
                <a:spcPts val="0"/>
              </a:spcAft>
              <a:buNone/>
            </a:pPr>
            <a:endParaRPr sz="1200">
              <a:solidFill>
                <a:srgbClr val="202124"/>
              </a:solidFill>
              <a:highlight>
                <a:srgbClr val="FFFFFF"/>
              </a:highlight>
              <a:latin typeface="Roboto"/>
              <a:ea typeface="Roboto"/>
              <a:cs typeface="Roboto"/>
              <a:sym typeface="Roboto"/>
            </a:endParaRPr>
          </a:p>
          <a:p>
            <a:pPr marL="0" lvl="0" indent="0" algn="l" rtl="0">
              <a:spcBef>
                <a:spcPts val="0"/>
              </a:spcBef>
              <a:spcAft>
                <a:spcPts val="0"/>
              </a:spcAft>
              <a:buNone/>
            </a:pPr>
            <a:endParaRPr sz="3000" b="1">
              <a:solidFill>
                <a:srgbClr val="3366CC"/>
              </a:solidFill>
              <a:latin typeface="Roboto"/>
              <a:ea typeface="Roboto"/>
              <a:cs typeface="Roboto"/>
              <a:sym typeface="Roboto"/>
            </a:endParaRPr>
          </a:p>
          <a:p>
            <a:pPr marL="0" lvl="0" indent="0" algn="l" rtl="0">
              <a:lnSpc>
                <a:spcPct val="150000"/>
              </a:lnSpc>
              <a:spcBef>
                <a:spcPts val="0"/>
              </a:spcBef>
              <a:spcAft>
                <a:spcPts val="0"/>
              </a:spcAft>
              <a:buNone/>
            </a:pPr>
            <a:endParaRPr sz="1200">
              <a:solidFill>
                <a:srgbClr val="202124"/>
              </a:solidFill>
              <a:highlight>
                <a:srgbClr val="FFFFFF"/>
              </a:highlight>
              <a:latin typeface="Roboto"/>
              <a:ea typeface="Roboto"/>
              <a:cs typeface="Roboto"/>
              <a:sym typeface="Roboto"/>
            </a:endParaRPr>
          </a:p>
          <a:p>
            <a:pPr marL="0" lvl="0" indent="0" algn="l" rtl="0">
              <a:spcBef>
                <a:spcPts val="0"/>
              </a:spcBef>
              <a:spcAft>
                <a:spcPts val="0"/>
              </a:spcAft>
              <a:buNone/>
            </a:pPr>
            <a:endParaRPr sz="3000" b="1">
              <a:solidFill>
                <a:srgbClr val="0000FF"/>
              </a:solidFill>
              <a:highlight>
                <a:srgbClr val="FFFFFF"/>
              </a:highlight>
              <a:latin typeface="Roboto"/>
              <a:ea typeface="Roboto"/>
              <a:cs typeface="Roboto"/>
              <a:sym typeface="Roboto"/>
            </a:endParaRPr>
          </a:p>
          <a:p>
            <a:pPr marL="0" lvl="0" indent="0" algn="l" rtl="0">
              <a:lnSpc>
                <a:spcPct val="150000"/>
              </a:lnSpc>
              <a:spcBef>
                <a:spcPts val="0"/>
              </a:spcBef>
              <a:spcAft>
                <a:spcPts val="0"/>
              </a:spcAft>
              <a:buNone/>
            </a:pPr>
            <a:endParaRPr sz="1200">
              <a:solidFill>
                <a:srgbClr val="202124"/>
              </a:solidFill>
              <a:highlight>
                <a:srgbClr val="FFFFFF"/>
              </a:highlight>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p:txBody>
      </p:sp>
      <p:sp>
        <p:nvSpPr>
          <p:cNvPr id="131" name="Google Shape;131;p19"/>
          <p:cNvSpPr txBox="1"/>
          <p:nvPr/>
        </p:nvSpPr>
        <p:spPr>
          <a:xfrm>
            <a:off x="5145825" y="801350"/>
            <a:ext cx="3198600" cy="2542500"/>
          </a:xfrm>
          <a:prstGeom prst="rect">
            <a:avLst/>
          </a:prstGeom>
          <a:noFill/>
          <a:ln w="9525" cap="flat" cmpd="sng">
            <a:solidFill>
              <a:srgbClr val="109618"/>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2200" b="1">
              <a:solidFill>
                <a:srgbClr val="990099"/>
              </a:solidFill>
              <a:latin typeface="Roboto"/>
              <a:ea typeface="Roboto"/>
              <a:cs typeface="Roboto"/>
              <a:sym typeface="Roboto"/>
            </a:endParaRPr>
          </a:p>
          <a:p>
            <a:pPr marL="0" lvl="0" indent="0" algn="l" rtl="0">
              <a:spcBef>
                <a:spcPts val="0"/>
              </a:spcBef>
              <a:spcAft>
                <a:spcPts val="0"/>
              </a:spcAft>
              <a:buNone/>
            </a:pPr>
            <a:r>
              <a:rPr lang="tr" sz="2200" b="1">
                <a:solidFill>
                  <a:srgbClr val="3366CC"/>
                </a:solidFill>
                <a:latin typeface="Roboto"/>
                <a:ea typeface="Roboto"/>
                <a:cs typeface="Roboto"/>
                <a:sym typeface="Roboto"/>
              </a:rPr>
              <a:t>Youtube = 8</a:t>
            </a:r>
            <a:endParaRPr sz="2200" b="1">
              <a:solidFill>
                <a:srgbClr val="3366CC"/>
              </a:solidFill>
              <a:latin typeface="Roboto"/>
              <a:ea typeface="Roboto"/>
              <a:cs typeface="Roboto"/>
              <a:sym typeface="Roboto"/>
            </a:endParaRPr>
          </a:p>
          <a:p>
            <a:pPr marL="0" lvl="0" indent="0" algn="l" rtl="0">
              <a:spcBef>
                <a:spcPts val="0"/>
              </a:spcBef>
              <a:spcAft>
                <a:spcPts val="0"/>
              </a:spcAft>
              <a:buNone/>
            </a:pPr>
            <a:r>
              <a:rPr lang="tr" sz="2200" b="1">
                <a:solidFill>
                  <a:srgbClr val="FFFF00"/>
                </a:solidFill>
                <a:latin typeface="Roboto"/>
                <a:ea typeface="Roboto"/>
                <a:cs typeface="Roboto"/>
                <a:sym typeface="Roboto"/>
              </a:rPr>
              <a:t>X(Eski Twitter) =4</a:t>
            </a:r>
            <a:endParaRPr sz="2200" b="1">
              <a:solidFill>
                <a:srgbClr val="FFFF00"/>
              </a:solidFill>
              <a:latin typeface="Roboto"/>
              <a:ea typeface="Roboto"/>
              <a:cs typeface="Roboto"/>
              <a:sym typeface="Roboto"/>
            </a:endParaRPr>
          </a:p>
          <a:p>
            <a:pPr marL="0" lvl="0" indent="0" algn="l" rtl="0">
              <a:spcBef>
                <a:spcPts val="0"/>
              </a:spcBef>
              <a:spcAft>
                <a:spcPts val="0"/>
              </a:spcAft>
              <a:buNone/>
            </a:pPr>
            <a:r>
              <a:rPr lang="tr" sz="2200" b="1">
                <a:solidFill>
                  <a:srgbClr val="FF9900"/>
                </a:solidFill>
                <a:latin typeface="Roboto"/>
                <a:ea typeface="Roboto"/>
                <a:cs typeface="Roboto"/>
                <a:sym typeface="Roboto"/>
              </a:rPr>
              <a:t>TikTok = 14 </a:t>
            </a:r>
            <a:endParaRPr sz="2200" b="1">
              <a:solidFill>
                <a:srgbClr val="FF9900"/>
              </a:solidFill>
              <a:latin typeface="Roboto"/>
              <a:ea typeface="Roboto"/>
              <a:cs typeface="Roboto"/>
              <a:sym typeface="Roboto"/>
            </a:endParaRPr>
          </a:p>
          <a:p>
            <a:pPr marL="0" lvl="0" indent="0" algn="l" rtl="0">
              <a:spcBef>
                <a:spcPts val="0"/>
              </a:spcBef>
              <a:spcAft>
                <a:spcPts val="0"/>
              </a:spcAft>
              <a:buNone/>
            </a:pPr>
            <a:r>
              <a:rPr lang="tr" sz="2200" b="1">
                <a:solidFill>
                  <a:srgbClr val="109618"/>
                </a:solidFill>
                <a:latin typeface="Roboto"/>
                <a:ea typeface="Roboto"/>
                <a:cs typeface="Roboto"/>
                <a:sym typeface="Roboto"/>
              </a:rPr>
              <a:t>Instagram = 25</a:t>
            </a:r>
            <a:endParaRPr sz="2200" b="1">
              <a:solidFill>
                <a:srgbClr val="109618"/>
              </a:solidFill>
              <a:latin typeface="Roboto"/>
              <a:ea typeface="Roboto"/>
              <a:cs typeface="Roboto"/>
              <a:sym typeface="Roboto"/>
            </a:endParaRPr>
          </a:p>
          <a:p>
            <a:pPr marL="0" lvl="0" indent="0" algn="l" rtl="0">
              <a:spcBef>
                <a:spcPts val="0"/>
              </a:spcBef>
              <a:spcAft>
                <a:spcPts val="0"/>
              </a:spcAft>
              <a:buNone/>
            </a:pPr>
            <a:r>
              <a:rPr lang="tr" sz="2200" b="1">
                <a:solidFill>
                  <a:srgbClr val="FF0000"/>
                </a:solidFill>
                <a:latin typeface="Roboto"/>
                <a:ea typeface="Roboto"/>
                <a:cs typeface="Roboto"/>
                <a:sym typeface="Roboto"/>
              </a:rPr>
              <a:t>LinkedIN =2</a:t>
            </a:r>
            <a:endParaRPr sz="2200" b="1">
              <a:solidFill>
                <a:srgbClr val="FF0000"/>
              </a:solidFill>
              <a:latin typeface="Roboto"/>
              <a:ea typeface="Roboto"/>
              <a:cs typeface="Roboto"/>
              <a:sym typeface="Roboto"/>
            </a:endParaRPr>
          </a:p>
        </p:txBody>
      </p:sp>
      <p:pic>
        <p:nvPicPr>
          <p:cNvPr id="132" name="Google Shape;132;p19"/>
          <p:cNvPicPr preferRelativeResize="0"/>
          <p:nvPr/>
        </p:nvPicPr>
        <p:blipFill>
          <a:blip r:embed="rId3">
            <a:alphaModFix/>
          </a:blip>
          <a:stretch>
            <a:fillRect/>
          </a:stretch>
        </p:blipFill>
        <p:spPr>
          <a:xfrm>
            <a:off x="143072" y="1578825"/>
            <a:ext cx="3198600" cy="349438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7"/>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a:p>
        </p:txBody>
      </p:sp>
      <p:sp>
        <p:nvSpPr>
          <p:cNvPr id="191" name="Google Shape;191;p27"/>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
        <p:nvSpPr>
          <p:cNvPr id="192" name="Google Shape;192;p27"/>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endParaRPr/>
          </a:p>
        </p:txBody>
      </p:sp>
      <p:pic>
        <p:nvPicPr>
          <p:cNvPr id="193" name="Google Shape;193;p27"/>
          <p:cNvPicPr preferRelativeResize="0"/>
          <p:nvPr/>
        </p:nvPicPr>
        <p:blipFill>
          <a:blip r:embed="rId3">
            <a:alphaModFix/>
          </a:blip>
          <a:stretch>
            <a:fillRect/>
          </a:stretch>
        </p:blipFill>
        <p:spPr>
          <a:xfrm>
            <a:off x="466725" y="257175"/>
            <a:ext cx="8210550" cy="4629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0"/>
          <p:cNvSpPr txBox="1">
            <a:spLocks noGrp="1"/>
          </p:cNvSpPr>
          <p:nvPr>
            <p:ph type="title"/>
          </p:nvPr>
        </p:nvSpPr>
        <p:spPr>
          <a:xfrm>
            <a:off x="89750" y="84135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tr" sz="3000" b="1">
                <a:highlight>
                  <a:srgbClr val="FFFFFF"/>
                </a:highlight>
              </a:rPr>
              <a:t>En çok hangi sosyal medya içeriklerini tüketiyorsunuz?</a:t>
            </a:r>
            <a:endParaRPr sz="3000" b="1">
              <a:highlight>
                <a:srgbClr val="FFFFFF"/>
              </a:highlight>
            </a:endParaRPr>
          </a:p>
          <a:p>
            <a:pPr marL="0" lvl="0" indent="0" algn="l" rtl="0">
              <a:lnSpc>
                <a:spcPct val="150000"/>
              </a:lnSpc>
              <a:spcBef>
                <a:spcPts val="0"/>
              </a:spcBef>
              <a:spcAft>
                <a:spcPts val="0"/>
              </a:spcAft>
              <a:buNone/>
            </a:pPr>
            <a:endParaRPr sz="1200">
              <a:solidFill>
                <a:srgbClr val="202124"/>
              </a:solidFill>
              <a:highlight>
                <a:srgbClr val="FFFFFF"/>
              </a:highlight>
            </a:endParaRPr>
          </a:p>
          <a:p>
            <a:pPr marL="0" lvl="0" indent="0" algn="ctr" rtl="0">
              <a:spcBef>
                <a:spcPts val="0"/>
              </a:spcBef>
              <a:spcAft>
                <a:spcPts val="0"/>
              </a:spcAft>
              <a:buNone/>
            </a:pPr>
            <a:endParaRPr/>
          </a:p>
        </p:txBody>
      </p:sp>
      <p:sp>
        <p:nvSpPr>
          <p:cNvPr id="138" name="Google Shape;138;p20"/>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
        <p:nvSpPr>
          <p:cNvPr id="139" name="Google Shape;139;p20"/>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 b="1">
                <a:solidFill>
                  <a:srgbClr val="3366CC"/>
                </a:solidFill>
              </a:rPr>
              <a:t>Kısa Form videolar = 26</a:t>
            </a:r>
            <a:endParaRPr b="1">
              <a:solidFill>
                <a:srgbClr val="3366CC"/>
              </a:solidFill>
            </a:endParaRPr>
          </a:p>
          <a:p>
            <a:pPr marL="0" lvl="0" indent="0" algn="l" rtl="0">
              <a:spcBef>
                <a:spcPts val="1600"/>
              </a:spcBef>
              <a:spcAft>
                <a:spcPts val="0"/>
              </a:spcAft>
              <a:buNone/>
            </a:pPr>
            <a:r>
              <a:rPr lang="tr" b="1">
                <a:solidFill>
                  <a:srgbClr val="FF0000"/>
                </a:solidFill>
              </a:rPr>
              <a:t>Görsel Tabanlı İçerikler = 13</a:t>
            </a:r>
            <a:endParaRPr b="1">
              <a:solidFill>
                <a:srgbClr val="FF0000"/>
              </a:solidFill>
            </a:endParaRPr>
          </a:p>
          <a:p>
            <a:pPr marL="0" lvl="0" indent="0" algn="l" rtl="0">
              <a:spcBef>
                <a:spcPts val="1600"/>
              </a:spcBef>
              <a:spcAft>
                <a:spcPts val="0"/>
              </a:spcAft>
              <a:buNone/>
            </a:pPr>
            <a:r>
              <a:rPr lang="tr" b="1">
                <a:solidFill>
                  <a:srgbClr val="FF9900"/>
                </a:solidFill>
              </a:rPr>
              <a:t>Uzun Form videolar = 9</a:t>
            </a:r>
            <a:endParaRPr b="1">
              <a:solidFill>
                <a:srgbClr val="FF9900"/>
              </a:solidFill>
            </a:endParaRPr>
          </a:p>
          <a:p>
            <a:pPr marL="0" lvl="0" indent="0" algn="l" rtl="0">
              <a:spcBef>
                <a:spcPts val="1600"/>
              </a:spcBef>
              <a:spcAft>
                <a:spcPts val="0"/>
              </a:spcAft>
              <a:buNone/>
            </a:pPr>
            <a:r>
              <a:rPr lang="tr" b="1">
                <a:solidFill>
                  <a:srgbClr val="109618"/>
                </a:solidFill>
              </a:rPr>
              <a:t>Metin tabanlı İçerikler = 3</a:t>
            </a:r>
            <a:endParaRPr b="1">
              <a:solidFill>
                <a:srgbClr val="109618"/>
              </a:solidFill>
            </a:endParaRPr>
          </a:p>
          <a:p>
            <a:pPr marL="0" lvl="0" indent="0" algn="l" rtl="0">
              <a:spcBef>
                <a:spcPts val="1600"/>
              </a:spcBef>
              <a:spcAft>
                <a:spcPts val="1600"/>
              </a:spcAft>
              <a:buNone/>
            </a:pPr>
            <a:r>
              <a:rPr lang="tr" b="1">
                <a:solidFill>
                  <a:srgbClr val="FFFF00"/>
                </a:solidFill>
              </a:rPr>
              <a:t>Ses tabanlı içerikler = 2</a:t>
            </a:r>
            <a:endParaRPr b="1">
              <a:solidFill>
                <a:srgbClr val="FFFF00"/>
              </a:solidFill>
            </a:endParaRPr>
          </a:p>
        </p:txBody>
      </p:sp>
      <p:pic>
        <p:nvPicPr>
          <p:cNvPr id="140" name="Google Shape;140;p20"/>
          <p:cNvPicPr preferRelativeResize="0"/>
          <p:nvPr/>
        </p:nvPicPr>
        <p:blipFill>
          <a:blip r:embed="rId3">
            <a:alphaModFix/>
          </a:blip>
          <a:stretch>
            <a:fillRect/>
          </a:stretch>
        </p:blipFill>
        <p:spPr>
          <a:xfrm>
            <a:off x="441250" y="1458200"/>
            <a:ext cx="3444054" cy="3500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8"/>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a:p>
        </p:txBody>
      </p:sp>
      <p:sp>
        <p:nvSpPr>
          <p:cNvPr id="199" name="Google Shape;199;p28"/>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
        <p:nvSpPr>
          <p:cNvPr id="200" name="Google Shape;200;p28"/>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endParaRPr/>
          </a:p>
        </p:txBody>
      </p:sp>
      <p:pic>
        <p:nvPicPr>
          <p:cNvPr id="201" name="Google Shape;201;p28"/>
          <p:cNvPicPr preferRelativeResize="0"/>
          <p:nvPr/>
        </p:nvPicPr>
        <p:blipFill>
          <a:blip r:embed="rId3">
            <a:alphaModFix/>
          </a:blip>
          <a:stretch>
            <a:fillRect/>
          </a:stretch>
        </p:blipFill>
        <p:spPr>
          <a:xfrm>
            <a:off x="457200" y="257175"/>
            <a:ext cx="8229600" cy="4629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1"/>
          <p:cNvSpPr txBox="1">
            <a:spLocks noGrp="1"/>
          </p:cNvSpPr>
          <p:nvPr>
            <p:ph type="title"/>
          </p:nvPr>
        </p:nvSpPr>
        <p:spPr>
          <a:xfrm>
            <a:off x="124900" y="1209700"/>
            <a:ext cx="4447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tr" sz="2200" b="1">
                <a:solidFill>
                  <a:srgbClr val="3366CC"/>
                </a:solidFill>
                <a:highlight>
                  <a:srgbClr val="FFFFFF"/>
                </a:highlight>
              </a:rPr>
              <a:t>Sosyal Medya kullanımızın hayatınıza olumsuz etki ettiğini düşünüyor musunuz?(1-Kesinlikle hayır 5-Kesinlikle evet)</a:t>
            </a:r>
            <a:endParaRPr sz="2200" b="1">
              <a:solidFill>
                <a:srgbClr val="3366CC"/>
              </a:solidFill>
              <a:highlight>
                <a:srgbClr val="FFFFFF"/>
              </a:highlight>
            </a:endParaRPr>
          </a:p>
          <a:p>
            <a:pPr marL="0" lvl="0" indent="0" algn="l" rtl="0">
              <a:lnSpc>
                <a:spcPct val="150000"/>
              </a:lnSpc>
              <a:spcBef>
                <a:spcPts val="0"/>
              </a:spcBef>
              <a:spcAft>
                <a:spcPts val="0"/>
              </a:spcAft>
              <a:buNone/>
            </a:pPr>
            <a:endParaRPr sz="1200">
              <a:solidFill>
                <a:srgbClr val="202124"/>
              </a:solidFill>
              <a:highlight>
                <a:srgbClr val="FFFFFF"/>
              </a:highlight>
            </a:endParaRPr>
          </a:p>
          <a:p>
            <a:pPr marL="0" lvl="0" indent="0" algn="ctr" rtl="0">
              <a:spcBef>
                <a:spcPts val="0"/>
              </a:spcBef>
              <a:spcAft>
                <a:spcPts val="0"/>
              </a:spcAft>
              <a:buNone/>
            </a:pPr>
            <a:endParaRPr/>
          </a:p>
        </p:txBody>
      </p:sp>
      <p:sp>
        <p:nvSpPr>
          <p:cNvPr id="146" name="Google Shape;146;p21"/>
          <p:cNvSpPr txBox="1">
            <a:spLocks noGrp="1"/>
          </p:cNvSpPr>
          <p:nvPr>
            <p:ph type="subTitle" idx="1"/>
          </p:nvPr>
        </p:nvSpPr>
        <p:spPr>
          <a:xfrm>
            <a:off x="265500" y="3214201"/>
            <a:ext cx="4045200" cy="126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
        <p:nvSpPr>
          <p:cNvPr id="147" name="Google Shape;147;p21"/>
          <p:cNvSpPr txBox="1">
            <a:spLocks noGrp="1"/>
          </p:cNvSpPr>
          <p:nvPr>
            <p:ph type="body" idx="2"/>
          </p:nvPr>
        </p:nvSpPr>
        <p:spPr>
          <a:xfrm>
            <a:off x="4986375" y="102885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 sz="2300" b="1"/>
              <a:t>1 = 0</a:t>
            </a:r>
            <a:endParaRPr sz="2300" b="1"/>
          </a:p>
          <a:p>
            <a:pPr marL="0" lvl="0" indent="0" algn="l" rtl="0">
              <a:spcBef>
                <a:spcPts val="1600"/>
              </a:spcBef>
              <a:spcAft>
                <a:spcPts val="0"/>
              </a:spcAft>
              <a:buNone/>
            </a:pPr>
            <a:r>
              <a:rPr lang="tr" sz="2300" b="1">
                <a:solidFill>
                  <a:srgbClr val="FF0000"/>
                </a:solidFill>
              </a:rPr>
              <a:t>2 = 8</a:t>
            </a:r>
            <a:endParaRPr sz="2300" b="1">
              <a:solidFill>
                <a:srgbClr val="FF0000"/>
              </a:solidFill>
            </a:endParaRPr>
          </a:p>
          <a:p>
            <a:pPr marL="0" lvl="0" indent="0" algn="l" rtl="0">
              <a:spcBef>
                <a:spcPts val="1600"/>
              </a:spcBef>
              <a:spcAft>
                <a:spcPts val="0"/>
              </a:spcAft>
              <a:buNone/>
            </a:pPr>
            <a:r>
              <a:rPr lang="tr" sz="2300" b="1">
                <a:solidFill>
                  <a:srgbClr val="FF9900"/>
                </a:solidFill>
              </a:rPr>
              <a:t>3 = 15 </a:t>
            </a:r>
            <a:endParaRPr sz="2300" b="1">
              <a:solidFill>
                <a:srgbClr val="FF9900"/>
              </a:solidFill>
            </a:endParaRPr>
          </a:p>
          <a:p>
            <a:pPr marL="0" lvl="0" indent="0" algn="l" rtl="0">
              <a:spcBef>
                <a:spcPts val="1600"/>
              </a:spcBef>
              <a:spcAft>
                <a:spcPts val="0"/>
              </a:spcAft>
              <a:buNone/>
            </a:pPr>
            <a:r>
              <a:rPr lang="tr" sz="2300" b="1">
                <a:solidFill>
                  <a:srgbClr val="109618"/>
                </a:solidFill>
              </a:rPr>
              <a:t>4 = 13</a:t>
            </a:r>
            <a:endParaRPr sz="2300" b="1">
              <a:solidFill>
                <a:srgbClr val="109618"/>
              </a:solidFill>
            </a:endParaRPr>
          </a:p>
          <a:p>
            <a:pPr marL="0" lvl="0" indent="0" algn="l" rtl="0">
              <a:spcBef>
                <a:spcPts val="1600"/>
              </a:spcBef>
              <a:spcAft>
                <a:spcPts val="0"/>
              </a:spcAft>
              <a:buNone/>
            </a:pPr>
            <a:r>
              <a:rPr lang="tr" sz="2300" b="1">
                <a:solidFill>
                  <a:srgbClr val="990099"/>
                </a:solidFill>
              </a:rPr>
              <a:t>5 = 17</a:t>
            </a:r>
            <a:endParaRPr sz="2300" b="1">
              <a:solidFill>
                <a:srgbClr val="990099"/>
              </a:solidFill>
            </a:endParaRPr>
          </a:p>
          <a:p>
            <a:pPr marL="0" lvl="0" indent="0" algn="l" rtl="0">
              <a:spcBef>
                <a:spcPts val="1600"/>
              </a:spcBef>
              <a:spcAft>
                <a:spcPts val="0"/>
              </a:spcAft>
              <a:buNone/>
            </a:pPr>
            <a:endParaRPr b="1">
              <a:solidFill>
                <a:srgbClr val="109618"/>
              </a:solidFill>
            </a:endParaRPr>
          </a:p>
          <a:p>
            <a:pPr marL="0" lvl="0" indent="0" algn="l" rtl="0">
              <a:spcBef>
                <a:spcPts val="1600"/>
              </a:spcBef>
              <a:spcAft>
                <a:spcPts val="1600"/>
              </a:spcAft>
              <a:buNone/>
            </a:pPr>
            <a:endParaRPr b="1"/>
          </a:p>
        </p:txBody>
      </p:sp>
      <p:pic>
        <p:nvPicPr>
          <p:cNvPr id="148" name="Google Shape;148;p21"/>
          <p:cNvPicPr preferRelativeResize="0"/>
          <p:nvPr/>
        </p:nvPicPr>
        <p:blipFill>
          <a:blip r:embed="rId3">
            <a:alphaModFix/>
          </a:blip>
          <a:stretch>
            <a:fillRect/>
          </a:stretch>
        </p:blipFill>
        <p:spPr>
          <a:xfrm>
            <a:off x="714650" y="1967775"/>
            <a:ext cx="2748550" cy="2638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a:p>
        </p:txBody>
      </p:sp>
      <p:sp>
        <p:nvSpPr>
          <p:cNvPr id="207" name="Google Shape;207;p2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
        <p:nvSpPr>
          <p:cNvPr id="208" name="Google Shape;208;p2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endParaRPr/>
          </a:p>
        </p:txBody>
      </p:sp>
      <p:pic>
        <p:nvPicPr>
          <p:cNvPr id="209" name="Google Shape;209;p29"/>
          <p:cNvPicPr preferRelativeResize="0"/>
          <p:nvPr/>
        </p:nvPicPr>
        <p:blipFill>
          <a:blip r:embed="rId3">
            <a:alphaModFix/>
          </a:blip>
          <a:stretch>
            <a:fillRect/>
          </a:stretch>
        </p:blipFill>
        <p:spPr>
          <a:xfrm>
            <a:off x="476250" y="257175"/>
            <a:ext cx="8191500" cy="4629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2"/>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tr" sz="2200" b="1">
                <a:solidFill>
                  <a:srgbClr val="3366CC"/>
                </a:solidFill>
                <a:highlight>
                  <a:srgbClr val="FFFFFF"/>
                </a:highlight>
              </a:rPr>
              <a:t>Okul veya başka bir alanda odaklanma sorunları yaşadığınızı düşünüyor musunuz? (1-Kesinlikle hayır 5-Kesinlikle evet)</a:t>
            </a:r>
            <a:endParaRPr sz="2200" b="1">
              <a:solidFill>
                <a:srgbClr val="3366CC"/>
              </a:solidFill>
              <a:highlight>
                <a:srgbClr val="FFFFFF"/>
              </a:highlight>
            </a:endParaRPr>
          </a:p>
          <a:p>
            <a:pPr marL="0" lvl="0" indent="0" algn="l" rtl="0">
              <a:lnSpc>
                <a:spcPct val="150000"/>
              </a:lnSpc>
              <a:spcBef>
                <a:spcPts val="0"/>
              </a:spcBef>
              <a:spcAft>
                <a:spcPts val="0"/>
              </a:spcAft>
              <a:buNone/>
            </a:pPr>
            <a:endParaRPr sz="1200">
              <a:solidFill>
                <a:srgbClr val="202124"/>
              </a:solidFill>
              <a:highlight>
                <a:srgbClr val="FFFFFF"/>
              </a:highlight>
            </a:endParaRPr>
          </a:p>
          <a:p>
            <a:pPr marL="0" lvl="0" indent="0" algn="ctr" rtl="0">
              <a:spcBef>
                <a:spcPts val="0"/>
              </a:spcBef>
              <a:spcAft>
                <a:spcPts val="0"/>
              </a:spcAft>
              <a:buNone/>
            </a:pPr>
            <a:endParaRPr/>
          </a:p>
        </p:txBody>
      </p:sp>
      <p:sp>
        <p:nvSpPr>
          <p:cNvPr id="154" name="Google Shape;154;p22"/>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 sz="2700" b="1">
                <a:solidFill>
                  <a:srgbClr val="3366CC"/>
                </a:solidFill>
              </a:rPr>
              <a:t>1 = 7</a:t>
            </a:r>
            <a:endParaRPr sz="2700" b="1">
              <a:solidFill>
                <a:srgbClr val="3366CC"/>
              </a:solidFill>
            </a:endParaRPr>
          </a:p>
          <a:p>
            <a:pPr marL="0" lvl="0" indent="0" algn="l" rtl="0">
              <a:spcBef>
                <a:spcPts val="1600"/>
              </a:spcBef>
              <a:spcAft>
                <a:spcPts val="0"/>
              </a:spcAft>
              <a:buNone/>
            </a:pPr>
            <a:r>
              <a:rPr lang="tr" sz="2700" b="1">
                <a:solidFill>
                  <a:srgbClr val="FF0000"/>
                </a:solidFill>
              </a:rPr>
              <a:t>2 = 4</a:t>
            </a:r>
            <a:endParaRPr sz="2700" b="1">
              <a:solidFill>
                <a:srgbClr val="FF0000"/>
              </a:solidFill>
            </a:endParaRPr>
          </a:p>
          <a:p>
            <a:pPr marL="0" lvl="0" indent="0" algn="l" rtl="0">
              <a:spcBef>
                <a:spcPts val="1600"/>
              </a:spcBef>
              <a:spcAft>
                <a:spcPts val="0"/>
              </a:spcAft>
              <a:buNone/>
            </a:pPr>
            <a:r>
              <a:rPr lang="tr" sz="2700" b="1">
                <a:solidFill>
                  <a:srgbClr val="FF9900"/>
                </a:solidFill>
              </a:rPr>
              <a:t>3 = 7</a:t>
            </a:r>
            <a:endParaRPr sz="2700" b="1">
              <a:solidFill>
                <a:srgbClr val="FF9900"/>
              </a:solidFill>
            </a:endParaRPr>
          </a:p>
          <a:p>
            <a:pPr marL="0" lvl="0" indent="0" algn="l" rtl="0">
              <a:spcBef>
                <a:spcPts val="1600"/>
              </a:spcBef>
              <a:spcAft>
                <a:spcPts val="0"/>
              </a:spcAft>
              <a:buNone/>
            </a:pPr>
            <a:r>
              <a:rPr lang="tr" sz="2700" b="1">
                <a:solidFill>
                  <a:srgbClr val="109618"/>
                </a:solidFill>
              </a:rPr>
              <a:t>4 = 12</a:t>
            </a:r>
            <a:endParaRPr sz="2700" b="1">
              <a:solidFill>
                <a:srgbClr val="109618"/>
              </a:solidFill>
            </a:endParaRPr>
          </a:p>
          <a:p>
            <a:pPr marL="0" lvl="0" indent="0" algn="l" rtl="0">
              <a:spcBef>
                <a:spcPts val="1600"/>
              </a:spcBef>
              <a:spcAft>
                <a:spcPts val="1600"/>
              </a:spcAft>
              <a:buNone/>
            </a:pPr>
            <a:r>
              <a:rPr lang="tr" sz="2700" b="1">
                <a:solidFill>
                  <a:srgbClr val="990099"/>
                </a:solidFill>
              </a:rPr>
              <a:t>5 = 23 </a:t>
            </a:r>
            <a:r>
              <a:rPr lang="tr" sz="2200" b="1">
                <a:solidFill>
                  <a:srgbClr val="990099"/>
                </a:solidFill>
              </a:rPr>
              <a:t> </a:t>
            </a:r>
            <a:endParaRPr sz="2200" b="1">
              <a:solidFill>
                <a:srgbClr val="990099"/>
              </a:solidFill>
            </a:endParaRPr>
          </a:p>
        </p:txBody>
      </p:sp>
      <p:pic>
        <p:nvPicPr>
          <p:cNvPr id="155" name="Google Shape;155;p22"/>
          <p:cNvPicPr preferRelativeResize="0"/>
          <p:nvPr/>
        </p:nvPicPr>
        <p:blipFill>
          <a:blip r:embed="rId3">
            <a:alphaModFix/>
          </a:blip>
          <a:stretch>
            <a:fillRect/>
          </a:stretch>
        </p:blipFill>
        <p:spPr>
          <a:xfrm>
            <a:off x="704225" y="1778125"/>
            <a:ext cx="3352000" cy="2999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0"/>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a:p>
        </p:txBody>
      </p:sp>
      <p:sp>
        <p:nvSpPr>
          <p:cNvPr id="215" name="Google Shape;215;p30"/>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
        <p:nvSpPr>
          <p:cNvPr id="216" name="Google Shape;216;p30"/>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endParaRPr/>
          </a:p>
        </p:txBody>
      </p:sp>
      <p:pic>
        <p:nvPicPr>
          <p:cNvPr id="217" name="Google Shape;217;p30"/>
          <p:cNvPicPr preferRelativeResize="0"/>
          <p:nvPr/>
        </p:nvPicPr>
        <p:blipFill>
          <a:blip r:embed="rId3">
            <a:alphaModFix/>
          </a:blip>
          <a:stretch>
            <a:fillRect/>
          </a:stretch>
        </p:blipFill>
        <p:spPr>
          <a:xfrm>
            <a:off x="466725" y="257175"/>
            <a:ext cx="8210550" cy="4629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3"/>
          <p:cNvSpPr txBox="1">
            <a:spLocks noGrp="1"/>
          </p:cNvSpPr>
          <p:nvPr>
            <p:ph type="title"/>
          </p:nvPr>
        </p:nvSpPr>
        <p:spPr>
          <a:xfrm>
            <a:off x="206925" y="1608025"/>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tr" sz="2400" b="1">
                <a:solidFill>
                  <a:srgbClr val="3366CC"/>
                </a:solidFill>
                <a:highlight>
                  <a:srgbClr val="FFFFFF"/>
                </a:highlight>
              </a:rPr>
              <a:t> Sosyal medya bağımlısı olduğunuzu düşünüyor musunuz?  </a:t>
            </a:r>
            <a:endParaRPr sz="2400" b="1">
              <a:solidFill>
                <a:srgbClr val="3366CC"/>
              </a:solidFill>
              <a:highlight>
                <a:srgbClr val="FFFFFF"/>
              </a:highlight>
            </a:endParaRPr>
          </a:p>
          <a:p>
            <a:pPr marL="0" lvl="0" indent="0" algn="l" rtl="0">
              <a:lnSpc>
                <a:spcPct val="150000"/>
              </a:lnSpc>
              <a:spcBef>
                <a:spcPts val="0"/>
              </a:spcBef>
              <a:spcAft>
                <a:spcPts val="0"/>
              </a:spcAft>
              <a:buNone/>
            </a:pPr>
            <a:endParaRPr sz="1200">
              <a:solidFill>
                <a:srgbClr val="202124"/>
              </a:solidFill>
              <a:highlight>
                <a:srgbClr val="FFFFFF"/>
              </a:highlight>
            </a:endParaRPr>
          </a:p>
          <a:p>
            <a:pPr marL="0" lvl="0" indent="0" algn="l" rtl="0">
              <a:lnSpc>
                <a:spcPct val="150000"/>
              </a:lnSpc>
              <a:spcBef>
                <a:spcPts val="0"/>
              </a:spcBef>
              <a:spcAft>
                <a:spcPts val="0"/>
              </a:spcAft>
              <a:buNone/>
            </a:pPr>
            <a:endParaRPr sz="1200">
              <a:solidFill>
                <a:srgbClr val="202124"/>
              </a:solidFill>
              <a:highlight>
                <a:srgbClr val="FFFFFF"/>
              </a:highlight>
            </a:endParaRPr>
          </a:p>
          <a:p>
            <a:pPr marL="0" lvl="0" indent="0" algn="ctr" rtl="0">
              <a:spcBef>
                <a:spcPts val="0"/>
              </a:spcBef>
              <a:spcAft>
                <a:spcPts val="0"/>
              </a:spcAft>
              <a:buNone/>
            </a:pPr>
            <a:endParaRPr sz="2200" b="1">
              <a:solidFill>
                <a:srgbClr val="3366CC"/>
              </a:solidFill>
              <a:highlight>
                <a:srgbClr val="FFFFFF"/>
              </a:highlight>
            </a:endParaRPr>
          </a:p>
          <a:p>
            <a:pPr marL="0" lvl="0" indent="0" algn="l" rtl="0">
              <a:lnSpc>
                <a:spcPct val="150000"/>
              </a:lnSpc>
              <a:spcBef>
                <a:spcPts val="0"/>
              </a:spcBef>
              <a:spcAft>
                <a:spcPts val="0"/>
              </a:spcAft>
              <a:buNone/>
            </a:pPr>
            <a:endParaRPr sz="1200">
              <a:solidFill>
                <a:srgbClr val="202124"/>
              </a:solidFill>
              <a:highlight>
                <a:srgbClr val="FFFFFF"/>
              </a:highlight>
            </a:endParaRPr>
          </a:p>
          <a:p>
            <a:pPr marL="0" lvl="0" indent="0" algn="ctr" rtl="0">
              <a:spcBef>
                <a:spcPts val="0"/>
              </a:spcBef>
              <a:spcAft>
                <a:spcPts val="0"/>
              </a:spcAft>
              <a:buNone/>
            </a:pPr>
            <a:endParaRPr/>
          </a:p>
        </p:txBody>
      </p:sp>
      <p:sp>
        <p:nvSpPr>
          <p:cNvPr id="161" name="Google Shape;161;p23"/>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 sz="2700" b="1">
                <a:solidFill>
                  <a:srgbClr val="3366CC"/>
                </a:solidFill>
              </a:rPr>
              <a:t>1 = 6</a:t>
            </a:r>
            <a:endParaRPr sz="2700" b="1">
              <a:solidFill>
                <a:srgbClr val="3366CC"/>
              </a:solidFill>
            </a:endParaRPr>
          </a:p>
          <a:p>
            <a:pPr marL="0" lvl="0" indent="0" algn="l" rtl="0">
              <a:spcBef>
                <a:spcPts val="1600"/>
              </a:spcBef>
              <a:spcAft>
                <a:spcPts val="0"/>
              </a:spcAft>
              <a:buNone/>
            </a:pPr>
            <a:r>
              <a:rPr lang="tr" sz="2700" b="1">
                <a:solidFill>
                  <a:srgbClr val="FF0000"/>
                </a:solidFill>
              </a:rPr>
              <a:t>2 = 6</a:t>
            </a:r>
            <a:endParaRPr sz="2700" b="1">
              <a:solidFill>
                <a:srgbClr val="FF0000"/>
              </a:solidFill>
            </a:endParaRPr>
          </a:p>
          <a:p>
            <a:pPr marL="0" lvl="0" indent="0" algn="l" rtl="0">
              <a:spcBef>
                <a:spcPts val="1600"/>
              </a:spcBef>
              <a:spcAft>
                <a:spcPts val="0"/>
              </a:spcAft>
              <a:buNone/>
            </a:pPr>
            <a:r>
              <a:rPr lang="tr" sz="2700" b="1">
                <a:solidFill>
                  <a:srgbClr val="FF9900"/>
                </a:solidFill>
              </a:rPr>
              <a:t>3 = 13</a:t>
            </a:r>
            <a:endParaRPr sz="2700" b="1">
              <a:solidFill>
                <a:srgbClr val="FF9900"/>
              </a:solidFill>
            </a:endParaRPr>
          </a:p>
          <a:p>
            <a:pPr marL="0" lvl="0" indent="0" algn="l" rtl="0">
              <a:spcBef>
                <a:spcPts val="1600"/>
              </a:spcBef>
              <a:spcAft>
                <a:spcPts val="0"/>
              </a:spcAft>
              <a:buNone/>
            </a:pPr>
            <a:r>
              <a:rPr lang="tr" sz="2700" b="1">
                <a:solidFill>
                  <a:srgbClr val="109618"/>
                </a:solidFill>
              </a:rPr>
              <a:t>4 = 8</a:t>
            </a:r>
            <a:endParaRPr sz="2700" b="1">
              <a:solidFill>
                <a:srgbClr val="109618"/>
              </a:solidFill>
            </a:endParaRPr>
          </a:p>
          <a:p>
            <a:pPr marL="0" lvl="0" indent="0" algn="l" rtl="0">
              <a:spcBef>
                <a:spcPts val="1600"/>
              </a:spcBef>
              <a:spcAft>
                <a:spcPts val="1600"/>
              </a:spcAft>
              <a:buNone/>
            </a:pPr>
            <a:r>
              <a:rPr lang="tr" sz="2700" b="1">
                <a:solidFill>
                  <a:srgbClr val="990099"/>
                </a:solidFill>
              </a:rPr>
              <a:t>5 = 20 </a:t>
            </a:r>
            <a:r>
              <a:rPr lang="tr" sz="2200" b="1">
                <a:solidFill>
                  <a:srgbClr val="990099"/>
                </a:solidFill>
              </a:rPr>
              <a:t> </a:t>
            </a:r>
            <a:endParaRPr sz="2200" b="1">
              <a:solidFill>
                <a:srgbClr val="990099"/>
              </a:solidFill>
            </a:endParaRPr>
          </a:p>
        </p:txBody>
      </p:sp>
      <p:pic>
        <p:nvPicPr>
          <p:cNvPr id="162" name="Google Shape;162;p23"/>
          <p:cNvPicPr preferRelativeResize="0"/>
          <p:nvPr/>
        </p:nvPicPr>
        <p:blipFill>
          <a:blip r:embed="rId3">
            <a:alphaModFix/>
          </a:blip>
          <a:stretch>
            <a:fillRect/>
          </a:stretch>
        </p:blipFill>
        <p:spPr>
          <a:xfrm>
            <a:off x="473288" y="1665050"/>
            <a:ext cx="3160975" cy="29324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1"/>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a:p>
        </p:txBody>
      </p:sp>
      <p:sp>
        <p:nvSpPr>
          <p:cNvPr id="223" name="Google Shape;223;p31"/>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
        <p:nvSpPr>
          <p:cNvPr id="224" name="Google Shape;224;p3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endParaRPr/>
          </a:p>
        </p:txBody>
      </p:sp>
      <p:pic>
        <p:nvPicPr>
          <p:cNvPr id="225" name="Google Shape;225;p31"/>
          <p:cNvPicPr preferRelativeResize="0"/>
          <p:nvPr/>
        </p:nvPicPr>
        <p:blipFill>
          <a:blip r:embed="rId3">
            <a:alphaModFix/>
          </a:blip>
          <a:stretch>
            <a:fillRect/>
          </a:stretch>
        </p:blipFill>
        <p:spPr>
          <a:xfrm>
            <a:off x="471488" y="266700"/>
            <a:ext cx="8201025" cy="4610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4"/>
          <p:cNvSpPr txBox="1">
            <a:spLocks noGrp="1"/>
          </p:cNvSpPr>
          <p:nvPr>
            <p:ph type="title"/>
          </p:nvPr>
        </p:nvSpPr>
        <p:spPr>
          <a:xfrm>
            <a:off x="206925" y="1345075"/>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tr" sz="2400" b="1">
                <a:solidFill>
                  <a:srgbClr val="3366CC"/>
                </a:solidFill>
                <a:highlight>
                  <a:srgbClr val="FFFFFF"/>
                </a:highlight>
              </a:rPr>
              <a:t> </a:t>
            </a:r>
            <a:endParaRPr sz="2400" b="1">
              <a:solidFill>
                <a:srgbClr val="3366CC"/>
              </a:solidFill>
              <a:highlight>
                <a:srgbClr val="FFFFFF"/>
              </a:highlight>
            </a:endParaRPr>
          </a:p>
          <a:p>
            <a:pPr marL="0" lvl="0" indent="0" algn="l" rtl="0">
              <a:lnSpc>
                <a:spcPct val="150000"/>
              </a:lnSpc>
              <a:spcBef>
                <a:spcPts val="0"/>
              </a:spcBef>
              <a:spcAft>
                <a:spcPts val="0"/>
              </a:spcAft>
              <a:buNone/>
            </a:pPr>
            <a:endParaRPr sz="1200">
              <a:solidFill>
                <a:srgbClr val="202124"/>
              </a:solidFill>
              <a:highlight>
                <a:srgbClr val="FFFFFF"/>
              </a:highlight>
            </a:endParaRPr>
          </a:p>
          <a:p>
            <a:pPr marL="0" lvl="0" indent="0" algn="l" rtl="0">
              <a:lnSpc>
                <a:spcPct val="150000"/>
              </a:lnSpc>
              <a:spcBef>
                <a:spcPts val="0"/>
              </a:spcBef>
              <a:spcAft>
                <a:spcPts val="0"/>
              </a:spcAft>
              <a:buNone/>
            </a:pPr>
            <a:endParaRPr sz="1200">
              <a:solidFill>
                <a:srgbClr val="202124"/>
              </a:solidFill>
              <a:highlight>
                <a:srgbClr val="FFFFFF"/>
              </a:highlight>
            </a:endParaRPr>
          </a:p>
          <a:p>
            <a:pPr marL="0" lvl="0" indent="0" algn="ctr" rtl="0">
              <a:spcBef>
                <a:spcPts val="0"/>
              </a:spcBef>
              <a:spcAft>
                <a:spcPts val="0"/>
              </a:spcAft>
              <a:buNone/>
            </a:pPr>
            <a:r>
              <a:rPr lang="tr" sz="2000" b="1">
                <a:solidFill>
                  <a:srgbClr val="3366CC"/>
                </a:solidFill>
                <a:highlight>
                  <a:srgbClr val="FFFFFF"/>
                </a:highlight>
              </a:rPr>
              <a:t>Sosyal medya kullanımınızı azaltmayı hiç denediniz mi? (1-Kesinlikle hayır 5-Kesinlikle evet)</a:t>
            </a:r>
            <a:endParaRPr sz="2000" b="1">
              <a:solidFill>
                <a:srgbClr val="3366CC"/>
              </a:solidFill>
              <a:highlight>
                <a:srgbClr val="FFFFFF"/>
              </a:highlight>
            </a:endParaRPr>
          </a:p>
          <a:p>
            <a:pPr marL="0" lvl="0" indent="0" algn="l" rtl="0">
              <a:lnSpc>
                <a:spcPct val="150000"/>
              </a:lnSpc>
              <a:spcBef>
                <a:spcPts val="0"/>
              </a:spcBef>
              <a:spcAft>
                <a:spcPts val="0"/>
              </a:spcAft>
              <a:buNone/>
            </a:pPr>
            <a:endParaRPr sz="1200">
              <a:solidFill>
                <a:srgbClr val="202124"/>
              </a:solidFill>
              <a:highlight>
                <a:srgbClr val="FFFFFF"/>
              </a:highlight>
            </a:endParaRPr>
          </a:p>
          <a:p>
            <a:pPr marL="0" lvl="0" indent="0" algn="ctr" rtl="0">
              <a:spcBef>
                <a:spcPts val="0"/>
              </a:spcBef>
              <a:spcAft>
                <a:spcPts val="0"/>
              </a:spcAft>
              <a:buNone/>
            </a:pPr>
            <a:endParaRPr sz="2200" b="1">
              <a:solidFill>
                <a:srgbClr val="3366CC"/>
              </a:solidFill>
              <a:highlight>
                <a:srgbClr val="FFFFFF"/>
              </a:highlight>
            </a:endParaRPr>
          </a:p>
          <a:p>
            <a:pPr marL="0" lvl="0" indent="0" algn="l" rtl="0">
              <a:lnSpc>
                <a:spcPct val="150000"/>
              </a:lnSpc>
              <a:spcBef>
                <a:spcPts val="0"/>
              </a:spcBef>
              <a:spcAft>
                <a:spcPts val="0"/>
              </a:spcAft>
              <a:buNone/>
            </a:pPr>
            <a:endParaRPr sz="1200">
              <a:solidFill>
                <a:srgbClr val="202124"/>
              </a:solidFill>
              <a:highlight>
                <a:srgbClr val="FFFFFF"/>
              </a:highlight>
            </a:endParaRPr>
          </a:p>
          <a:p>
            <a:pPr marL="0" lvl="0" indent="0" algn="ctr" rtl="0">
              <a:spcBef>
                <a:spcPts val="0"/>
              </a:spcBef>
              <a:spcAft>
                <a:spcPts val="0"/>
              </a:spcAft>
              <a:buNone/>
            </a:pPr>
            <a:endParaRPr/>
          </a:p>
        </p:txBody>
      </p:sp>
      <p:sp>
        <p:nvSpPr>
          <p:cNvPr id="168" name="Google Shape;168;p24"/>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 sz="2700" b="1">
                <a:solidFill>
                  <a:srgbClr val="3366CC"/>
                </a:solidFill>
              </a:rPr>
              <a:t>1 = 6</a:t>
            </a:r>
            <a:endParaRPr sz="2700" b="1">
              <a:solidFill>
                <a:srgbClr val="3366CC"/>
              </a:solidFill>
            </a:endParaRPr>
          </a:p>
          <a:p>
            <a:pPr marL="0" lvl="0" indent="0" algn="l" rtl="0">
              <a:spcBef>
                <a:spcPts val="1600"/>
              </a:spcBef>
              <a:spcAft>
                <a:spcPts val="0"/>
              </a:spcAft>
              <a:buNone/>
            </a:pPr>
            <a:r>
              <a:rPr lang="tr" sz="2700" b="1">
                <a:solidFill>
                  <a:srgbClr val="FF0000"/>
                </a:solidFill>
              </a:rPr>
              <a:t>2 = 9</a:t>
            </a:r>
            <a:endParaRPr sz="2700" b="1">
              <a:solidFill>
                <a:srgbClr val="FF0000"/>
              </a:solidFill>
            </a:endParaRPr>
          </a:p>
          <a:p>
            <a:pPr marL="0" lvl="0" indent="0" algn="l" rtl="0">
              <a:spcBef>
                <a:spcPts val="1600"/>
              </a:spcBef>
              <a:spcAft>
                <a:spcPts val="0"/>
              </a:spcAft>
              <a:buNone/>
            </a:pPr>
            <a:r>
              <a:rPr lang="tr" sz="2700" b="1">
                <a:solidFill>
                  <a:srgbClr val="FF9900"/>
                </a:solidFill>
              </a:rPr>
              <a:t>3 = 15</a:t>
            </a:r>
            <a:endParaRPr sz="2700" b="1">
              <a:solidFill>
                <a:srgbClr val="FF9900"/>
              </a:solidFill>
            </a:endParaRPr>
          </a:p>
          <a:p>
            <a:pPr marL="0" lvl="0" indent="0" algn="l" rtl="0">
              <a:spcBef>
                <a:spcPts val="1600"/>
              </a:spcBef>
              <a:spcAft>
                <a:spcPts val="0"/>
              </a:spcAft>
              <a:buNone/>
            </a:pPr>
            <a:r>
              <a:rPr lang="tr" sz="2700" b="1">
                <a:solidFill>
                  <a:srgbClr val="109618"/>
                </a:solidFill>
              </a:rPr>
              <a:t>4 = 6</a:t>
            </a:r>
            <a:endParaRPr sz="2700" b="1">
              <a:solidFill>
                <a:srgbClr val="109618"/>
              </a:solidFill>
            </a:endParaRPr>
          </a:p>
          <a:p>
            <a:pPr marL="0" lvl="0" indent="0" algn="l" rtl="0">
              <a:spcBef>
                <a:spcPts val="1600"/>
              </a:spcBef>
              <a:spcAft>
                <a:spcPts val="1600"/>
              </a:spcAft>
              <a:buNone/>
            </a:pPr>
            <a:r>
              <a:rPr lang="tr" sz="2700" b="1">
                <a:solidFill>
                  <a:srgbClr val="990099"/>
                </a:solidFill>
              </a:rPr>
              <a:t>5 = 17</a:t>
            </a:r>
            <a:r>
              <a:rPr lang="tr" sz="2200" b="1">
                <a:solidFill>
                  <a:srgbClr val="990099"/>
                </a:solidFill>
              </a:rPr>
              <a:t> </a:t>
            </a:r>
            <a:endParaRPr sz="2200" b="1">
              <a:solidFill>
                <a:srgbClr val="990099"/>
              </a:solidFill>
            </a:endParaRPr>
          </a:p>
        </p:txBody>
      </p:sp>
      <p:pic>
        <p:nvPicPr>
          <p:cNvPr id="169" name="Google Shape;169;p24"/>
          <p:cNvPicPr preferRelativeResize="0"/>
          <p:nvPr/>
        </p:nvPicPr>
        <p:blipFill>
          <a:blip r:embed="rId3">
            <a:alphaModFix/>
          </a:blip>
          <a:stretch>
            <a:fillRect/>
          </a:stretch>
        </p:blipFill>
        <p:spPr>
          <a:xfrm>
            <a:off x="500250" y="1597425"/>
            <a:ext cx="3227925" cy="30605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2"/>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a:p>
        </p:txBody>
      </p:sp>
      <p:sp>
        <p:nvSpPr>
          <p:cNvPr id="231" name="Google Shape;231;p32"/>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
        <p:nvSpPr>
          <p:cNvPr id="232" name="Google Shape;232;p32"/>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endParaRPr/>
          </a:p>
        </p:txBody>
      </p:sp>
      <p:pic>
        <p:nvPicPr>
          <p:cNvPr id="233" name="Google Shape;233;p32"/>
          <p:cNvPicPr preferRelativeResize="0"/>
          <p:nvPr/>
        </p:nvPicPr>
        <p:blipFill>
          <a:blip r:embed="rId3">
            <a:alphaModFix/>
          </a:blip>
          <a:stretch>
            <a:fillRect/>
          </a:stretch>
        </p:blipFill>
        <p:spPr>
          <a:xfrm>
            <a:off x="461963" y="257175"/>
            <a:ext cx="8220075" cy="46291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3"/>
          <p:cNvSpPr txBox="1">
            <a:spLocks noGrp="1"/>
          </p:cNvSpPr>
          <p:nvPr>
            <p:ph type="title"/>
          </p:nvPr>
        </p:nvSpPr>
        <p:spPr>
          <a:xfrm>
            <a:off x="265500" y="100725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tr" b="1"/>
              <a:t>Sonuç Raporu</a:t>
            </a:r>
            <a:endParaRPr b="1"/>
          </a:p>
        </p:txBody>
      </p:sp>
      <p:sp>
        <p:nvSpPr>
          <p:cNvPr id="239" name="Google Shape;239;p33"/>
          <p:cNvSpPr txBox="1">
            <a:spLocks noGrp="1"/>
          </p:cNvSpPr>
          <p:nvPr>
            <p:ph type="subTitle" idx="1"/>
          </p:nvPr>
        </p:nvSpPr>
        <p:spPr>
          <a:xfrm>
            <a:off x="-137850" y="1444500"/>
            <a:ext cx="4851900" cy="126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sz="2500" b="1">
              <a:latin typeface="Arial"/>
              <a:ea typeface="Arial"/>
              <a:cs typeface="Arial"/>
              <a:sym typeface="Arial"/>
            </a:endParaRPr>
          </a:p>
          <a:p>
            <a:pPr marL="0" lvl="0" indent="0" algn="ctr" rtl="0">
              <a:spcBef>
                <a:spcPts val="0"/>
              </a:spcBef>
              <a:spcAft>
                <a:spcPts val="0"/>
              </a:spcAft>
              <a:buNone/>
            </a:pPr>
            <a:endParaRPr sz="2700" b="1"/>
          </a:p>
          <a:p>
            <a:pPr marL="0" lvl="0" indent="0" algn="ctr" rtl="0">
              <a:spcBef>
                <a:spcPts val="0"/>
              </a:spcBef>
              <a:spcAft>
                <a:spcPts val="0"/>
              </a:spcAft>
              <a:buNone/>
            </a:pPr>
            <a:endParaRPr sz="2700" b="1"/>
          </a:p>
          <a:p>
            <a:pPr marL="0" lvl="0" indent="0" algn="ctr" rtl="0">
              <a:spcBef>
                <a:spcPts val="0"/>
              </a:spcBef>
              <a:spcAft>
                <a:spcPts val="0"/>
              </a:spcAft>
              <a:buNone/>
            </a:pPr>
            <a:endParaRPr sz="2000" b="1"/>
          </a:p>
          <a:p>
            <a:pPr marL="0" lvl="0" indent="0" algn="ctr" rtl="0">
              <a:spcBef>
                <a:spcPts val="0"/>
              </a:spcBef>
              <a:spcAft>
                <a:spcPts val="0"/>
              </a:spcAft>
              <a:buNone/>
            </a:pPr>
            <a:endParaRPr b="1"/>
          </a:p>
          <a:p>
            <a:pPr marL="0" lvl="0" indent="0" algn="ctr" rtl="0">
              <a:spcBef>
                <a:spcPts val="0"/>
              </a:spcBef>
              <a:spcAft>
                <a:spcPts val="0"/>
              </a:spcAft>
              <a:buNone/>
            </a:pPr>
            <a:endParaRPr b="1"/>
          </a:p>
        </p:txBody>
      </p:sp>
      <p:sp>
        <p:nvSpPr>
          <p:cNvPr id="240" name="Google Shape;240;p33"/>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endParaRPr/>
          </a:p>
        </p:txBody>
      </p:sp>
      <p:pic>
        <p:nvPicPr>
          <p:cNvPr id="241" name="Google Shape;241;p33"/>
          <p:cNvPicPr preferRelativeResize="0"/>
          <p:nvPr/>
        </p:nvPicPr>
        <p:blipFill>
          <a:blip r:embed="rId3">
            <a:alphaModFix/>
          </a:blip>
          <a:stretch>
            <a:fillRect/>
          </a:stretch>
        </p:blipFill>
        <p:spPr>
          <a:xfrm>
            <a:off x="6753025" y="2815750"/>
            <a:ext cx="2124900" cy="2124900"/>
          </a:xfrm>
          <a:prstGeom prst="rect">
            <a:avLst/>
          </a:prstGeom>
          <a:noFill/>
          <a:ln>
            <a:noFill/>
          </a:ln>
        </p:spPr>
      </p:pic>
      <p:pic>
        <p:nvPicPr>
          <p:cNvPr id="242" name="Google Shape;242;p33"/>
          <p:cNvPicPr preferRelativeResize="0"/>
          <p:nvPr/>
        </p:nvPicPr>
        <p:blipFill>
          <a:blip r:embed="rId4">
            <a:alphaModFix/>
          </a:blip>
          <a:stretch>
            <a:fillRect/>
          </a:stretch>
        </p:blipFill>
        <p:spPr>
          <a:xfrm>
            <a:off x="4714050" y="85400"/>
            <a:ext cx="2628401" cy="26284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4"/>
          <p:cNvSpPr txBox="1">
            <a:spLocks noGrp="1"/>
          </p:cNvSpPr>
          <p:nvPr>
            <p:ph type="title"/>
          </p:nvPr>
        </p:nvSpPr>
        <p:spPr>
          <a:xfrm>
            <a:off x="222050" y="788850"/>
            <a:ext cx="4045200" cy="1564500"/>
          </a:xfrm>
          <a:prstGeom prst="rect">
            <a:avLst/>
          </a:prstGeom>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r>
              <a:rPr lang="tr" sz="3100" b="1"/>
              <a:t>  Odaklanma Sorunlarının Şiddeti</a:t>
            </a:r>
            <a:endParaRPr sz="1600" b="1">
              <a:latin typeface="Arial"/>
              <a:ea typeface="Arial"/>
              <a:cs typeface="Arial"/>
              <a:sym typeface="Arial"/>
            </a:endParaRPr>
          </a:p>
          <a:p>
            <a:pPr marL="0" lvl="0" indent="0" algn="l" rtl="0">
              <a:lnSpc>
                <a:spcPct val="115000"/>
              </a:lnSpc>
              <a:spcBef>
                <a:spcPts val="1200"/>
              </a:spcBef>
              <a:spcAft>
                <a:spcPts val="0"/>
              </a:spcAft>
              <a:buNone/>
            </a:pPr>
            <a:endParaRPr sz="1100" b="1">
              <a:latin typeface="Arial"/>
              <a:ea typeface="Arial"/>
              <a:cs typeface="Arial"/>
              <a:sym typeface="Arial"/>
            </a:endParaRPr>
          </a:p>
          <a:p>
            <a:pPr marL="0" lvl="0" indent="0" algn="ctr" rtl="0">
              <a:spcBef>
                <a:spcPts val="200"/>
              </a:spcBef>
              <a:spcAft>
                <a:spcPts val="0"/>
              </a:spcAft>
              <a:buNone/>
            </a:pPr>
            <a:endParaRPr/>
          </a:p>
        </p:txBody>
      </p:sp>
      <p:sp>
        <p:nvSpPr>
          <p:cNvPr id="248" name="Google Shape;248;p34"/>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endParaRPr/>
          </a:p>
        </p:txBody>
      </p:sp>
      <p:sp>
        <p:nvSpPr>
          <p:cNvPr id="249" name="Google Shape;249;p34"/>
          <p:cNvSpPr txBox="1"/>
          <p:nvPr/>
        </p:nvSpPr>
        <p:spPr>
          <a:xfrm>
            <a:off x="45950" y="1311300"/>
            <a:ext cx="4221300" cy="25209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200"/>
              </a:spcBef>
              <a:spcAft>
                <a:spcPts val="0"/>
              </a:spcAft>
              <a:buNone/>
            </a:pPr>
            <a:r>
              <a:rPr lang="tr" sz="2000" b="1">
                <a:solidFill>
                  <a:schemeClr val="dk1"/>
                </a:solidFill>
                <a:latin typeface="Roboto"/>
                <a:ea typeface="Roboto"/>
                <a:cs typeface="Roboto"/>
                <a:sym typeface="Roboto"/>
              </a:rPr>
              <a:t>Katılımcıların büyük bir çoğunluğu (%66'dan fazlası), odaklanma sorunları yaşadığını "4" (Büyük ölçüde evet) veya "5" (Kesinlikle evet) olarak derecelendirmiştir. Bu, genç katılımcılar arasında odaklanma eksikliğinin yaygın bir sorun olduğunu işaret etmektedir.</a:t>
            </a:r>
            <a:endParaRPr sz="2000" b="1">
              <a:solidFill>
                <a:schemeClr val="dk1"/>
              </a:solidFill>
              <a:latin typeface="Roboto"/>
              <a:ea typeface="Roboto"/>
              <a:cs typeface="Roboto"/>
              <a:sym typeface="Roboto"/>
            </a:endParaRPr>
          </a:p>
          <a:p>
            <a:pPr marL="0" lvl="0" indent="0" algn="l" rtl="0">
              <a:spcBef>
                <a:spcPts val="1200"/>
              </a:spcBef>
              <a:spcAft>
                <a:spcPts val="0"/>
              </a:spcAft>
              <a:buNone/>
            </a:pPr>
            <a:endParaRPr sz="1800" b="1">
              <a:solidFill>
                <a:schemeClr val="dk2"/>
              </a:solidFill>
              <a:latin typeface="Roboto"/>
              <a:ea typeface="Roboto"/>
              <a:cs typeface="Roboto"/>
              <a:sym typeface="Roboto"/>
            </a:endParaRPr>
          </a:p>
        </p:txBody>
      </p:sp>
      <p:pic>
        <p:nvPicPr>
          <p:cNvPr id="250" name="Google Shape;250;p34"/>
          <p:cNvPicPr preferRelativeResize="0"/>
          <p:nvPr/>
        </p:nvPicPr>
        <p:blipFill>
          <a:blip r:embed="rId3">
            <a:alphaModFix/>
          </a:blip>
          <a:stretch>
            <a:fillRect/>
          </a:stretch>
        </p:blipFill>
        <p:spPr>
          <a:xfrm>
            <a:off x="5597550" y="1252425"/>
            <a:ext cx="2520900" cy="25209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5"/>
          <p:cNvSpPr txBox="1">
            <a:spLocks noGrp="1"/>
          </p:cNvSpPr>
          <p:nvPr>
            <p:ph type="title"/>
          </p:nvPr>
        </p:nvSpPr>
        <p:spPr>
          <a:xfrm>
            <a:off x="222025" y="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tr" sz="4300" b="1"/>
              <a:t> </a:t>
            </a:r>
            <a:r>
              <a:rPr lang="tr" sz="2700" b="1"/>
              <a:t>TikTok &amp; Odaklanma Sorunu</a:t>
            </a:r>
            <a:endParaRPr sz="7400" b="1"/>
          </a:p>
        </p:txBody>
      </p:sp>
      <p:sp>
        <p:nvSpPr>
          <p:cNvPr id="256" name="Google Shape;256;p35"/>
          <p:cNvSpPr txBox="1">
            <a:spLocks noGrp="1"/>
          </p:cNvSpPr>
          <p:nvPr>
            <p:ph type="subTitle" idx="1"/>
          </p:nvPr>
        </p:nvSpPr>
        <p:spPr>
          <a:xfrm>
            <a:off x="222025" y="1783776"/>
            <a:ext cx="4045200" cy="126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tr" sz="3400" b="1">
                <a:solidFill>
                  <a:schemeClr val="dk1"/>
                </a:solidFill>
                <a:latin typeface="Arial"/>
                <a:ea typeface="Arial"/>
                <a:cs typeface="Arial"/>
                <a:sym typeface="Arial"/>
              </a:rPr>
              <a:t> </a:t>
            </a:r>
            <a:r>
              <a:rPr lang="tr" sz="2200" b="1">
                <a:solidFill>
                  <a:schemeClr val="dk1"/>
                </a:solidFill>
                <a:latin typeface="Arial"/>
                <a:ea typeface="Arial"/>
                <a:cs typeface="Arial"/>
                <a:sym typeface="Arial"/>
              </a:rPr>
              <a:t>TikTok kullanımı arttıkça, odaklanma sorunlarının şiddeti de anlamlı ölçüde artmaktadır. Hızlı akış formatının dikkat süresini azalttığı hipotezini destekler.</a:t>
            </a:r>
            <a:endParaRPr sz="4400" b="1">
              <a:solidFill>
                <a:schemeClr val="dk1"/>
              </a:solidFill>
            </a:endParaRPr>
          </a:p>
        </p:txBody>
      </p:sp>
      <p:sp>
        <p:nvSpPr>
          <p:cNvPr id="257" name="Google Shape;257;p35"/>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endParaRPr/>
          </a:p>
        </p:txBody>
      </p:sp>
      <p:pic>
        <p:nvPicPr>
          <p:cNvPr id="258" name="Google Shape;258;p35"/>
          <p:cNvPicPr preferRelativeResize="0"/>
          <p:nvPr/>
        </p:nvPicPr>
        <p:blipFill>
          <a:blip r:embed="rId3">
            <a:alphaModFix/>
          </a:blip>
          <a:stretch>
            <a:fillRect/>
          </a:stretch>
        </p:blipFill>
        <p:spPr>
          <a:xfrm>
            <a:off x="4730850" y="293251"/>
            <a:ext cx="2031923" cy="2031923"/>
          </a:xfrm>
          <a:prstGeom prst="rect">
            <a:avLst/>
          </a:prstGeom>
          <a:noFill/>
          <a:ln>
            <a:noFill/>
          </a:ln>
        </p:spPr>
      </p:pic>
      <p:pic>
        <p:nvPicPr>
          <p:cNvPr id="259" name="Google Shape;259;p35"/>
          <p:cNvPicPr preferRelativeResize="0"/>
          <p:nvPr/>
        </p:nvPicPr>
        <p:blipFill>
          <a:blip r:embed="rId4">
            <a:alphaModFix/>
          </a:blip>
          <a:stretch>
            <a:fillRect/>
          </a:stretch>
        </p:blipFill>
        <p:spPr>
          <a:xfrm>
            <a:off x="6831725" y="2571750"/>
            <a:ext cx="2017450" cy="20174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6"/>
          <p:cNvSpPr txBox="1">
            <a:spLocks noGrp="1"/>
          </p:cNvSpPr>
          <p:nvPr>
            <p:ph type="title"/>
          </p:nvPr>
        </p:nvSpPr>
        <p:spPr>
          <a:xfrm>
            <a:off x="265500" y="861325"/>
            <a:ext cx="4045200" cy="1564500"/>
          </a:xfrm>
          <a:prstGeom prst="rect">
            <a:avLst/>
          </a:prstGeom>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tr" sz="3000" b="1"/>
              <a:t> </a:t>
            </a:r>
            <a:r>
              <a:rPr lang="tr" sz="2600" b="1"/>
              <a:t>Kısa Video &amp; Odaklanma Sorunu</a:t>
            </a:r>
            <a:endParaRPr sz="3000" b="1"/>
          </a:p>
          <a:p>
            <a:pPr marL="0" lvl="0" indent="0" algn="ctr" rtl="0">
              <a:spcBef>
                <a:spcPts val="2400"/>
              </a:spcBef>
              <a:spcAft>
                <a:spcPts val="0"/>
              </a:spcAft>
              <a:buNone/>
            </a:pPr>
            <a:endParaRPr/>
          </a:p>
        </p:txBody>
      </p:sp>
      <p:sp>
        <p:nvSpPr>
          <p:cNvPr id="265" name="Google Shape;265;p36"/>
          <p:cNvSpPr txBox="1">
            <a:spLocks noGrp="1"/>
          </p:cNvSpPr>
          <p:nvPr>
            <p:ph type="subTitle" idx="1"/>
          </p:nvPr>
        </p:nvSpPr>
        <p:spPr>
          <a:xfrm>
            <a:off x="265500" y="1595401"/>
            <a:ext cx="4045200" cy="126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tr" sz="2200" b="1">
                <a:solidFill>
                  <a:schemeClr val="dk1"/>
                </a:solidFill>
                <a:latin typeface="Arial"/>
                <a:ea typeface="Arial"/>
                <a:cs typeface="Arial"/>
                <a:sym typeface="Arial"/>
              </a:rPr>
              <a:t>Kısa video tüketiminin yoğunluğu ile odaklanma sorunları arasındaki ilişki en güçlüsüdür.Hızlı uyaranlara bağımlılık, uzun dikkat gerektiren işleri zorlaştırmaktadır.</a:t>
            </a:r>
            <a:endParaRPr sz="2200" b="1">
              <a:solidFill>
                <a:schemeClr val="dk1"/>
              </a:solidFill>
              <a:latin typeface="Arial"/>
              <a:ea typeface="Arial"/>
              <a:cs typeface="Arial"/>
              <a:sym typeface="Arial"/>
            </a:endParaRPr>
          </a:p>
          <a:p>
            <a:pPr marL="0" lvl="0" indent="0" algn="ctr" rtl="0">
              <a:spcBef>
                <a:spcPts val="2400"/>
              </a:spcBef>
              <a:spcAft>
                <a:spcPts val="0"/>
              </a:spcAft>
              <a:buNone/>
            </a:pPr>
            <a:endParaRPr/>
          </a:p>
        </p:txBody>
      </p:sp>
      <p:sp>
        <p:nvSpPr>
          <p:cNvPr id="266" name="Google Shape;266;p36"/>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endParaRPr/>
          </a:p>
        </p:txBody>
      </p:sp>
      <p:pic>
        <p:nvPicPr>
          <p:cNvPr id="267" name="Google Shape;267;p36"/>
          <p:cNvPicPr preferRelativeResize="0"/>
          <p:nvPr/>
        </p:nvPicPr>
        <p:blipFill>
          <a:blip r:embed="rId3">
            <a:alphaModFix/>
          </a:blip>
          <a:stretch>
            <a:fillRect/>
          </a:stretch>
        </p:blipFill>
        <p:spPr>
          <a:xfrm>
            <a:off x="5038650" y="408375"/>
            <a:ext cx="2017450" cy="2017450"/>
          </a:xfrm>
          <a:prstGeom prst="rect">
            <a:avLst/>
          </a:prstGeom>
          <a:noFill/>
          <a:ln>
            <a:noFill/>
          </a:ln>
        </p:spPr>
      </p:pic>
      <p:pic>
        <p:nvPicPr>
          <p:cNvPr id="268" name="Google Shape;268;p36"/>
          <p:cNvPicPr preferRelativeResize="0"/>
          <p:nvPr/>
        </p:nvPicPr>
        <p:blipFill>
          <a:blip r:embed="rId4">
            <a:alphaModFix/>
          </a:blip>
          <a:stretch>
            <a:fillRect/>
          </a:stretch>
        </p:blipFill>
        <p:spPr>
          <a:xfrm>
            <a:off x="6640625" y="2506325"/>
            <a:ext cx="2135875" cy="21358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7"/>
          <p:cNvSpPr txBox="1">
            <a:spLocks noGrp="1"/>
          </p:cNvSpPr>
          <p:nvPr>
            <p:ph type="title"/>
          </p:nvPr>
        </p:nvSpPr>
        <p:spPr>
          <a:xfrm>
            <a:off x="0" y="-544075"/>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tr" sz="2500" b="1"/>
              <a:t>Öğrenme Amacı &amp; Uzun İçerik</a:t>
            </a:r>
            <a:endParaRPr sz="5600" b="1"/>
          </a:p>
        </p:txBody>
      </p:sp>
      <p:sp>
        <p:nvSpPr>
          <p:cNvPr id="274" name="Google Shape;274;p37"/>
          <p:cNvSpPr txBox="1">
            <a:spLocks noGrp="1"/>
          </p:cNvSpPr>
          <p:nvPr>
            <p:ph type="subTitle" idx="1"/>
          </p:nvPr>
        </p:nvSpPr>
        <p:spPr>
          <a:xfrm>
            <a:off x="251000" y="1020426"/>
            <a:ext cx="4045200" cy="126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tr" sz="2300" b="1">
                <a:solidFill>
                  <a:schemeClr val="dk1"/>
                </a:solidFill>
              </a:rPr>
              <a:t>Öğrenme amacı olan az sayıdaki kullanıcı, bilgi derinliği gerektiren Uzun Form Video veya Metin tabanlı içeriklere yönelmektedir. Amacın, içerik formatını belirlediği görülmektedir.</a:t>
            </a:r>
            <a:endParaRPr sz="2300" b="1">
              <a:solidFill>
                <a:schemeClr val="dk1"/>
              </a:solidFill>
            </a:endParaRPr>
          </a:p>
          <a:p>
            <a:pPr marL="0" lvl="0" indent="0" algn="ctr" rtl="0">
              <a:spcBef>
                <a:spcPts val="2400"/>
              </a:spcBef>
              <a:spcAft>
                <a:spcPts val="0"/>
              </a:spcAft>
              <a:buNone/>
            </a:pPr>
            <a:endParaRPr/>
          </a:p>
        </p:txBody>
      </p:sp>
      <p:sp>
        <p:nvSpPr>
          <p:cNvPr id="275" name="Google Shape;275;p37"/>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endParaRPr/>
          </a:p>
        </p:txBody>
      </p:sp>
      <p:pic>
        <p:nvPicPr>
          <p:cNvPr id="276" name="Google Shape;276;p37"/>
          <p:cNvPicPr preferRelativeResize="0"/>
          <p:nvPr/>
        </p:nvPicPr>
        <p:blipFill>
          <a:blip r:embed="rId3">
            <a:alphaModFix/>
          </a:blip>
          <a:stretch>
            <a:fillRect/>
          </a:stretch>
        </p:blipFill>
        <p:spPr>
          <a:xfrm>
            <a:off x="4759800" y="313750"/>
            <a:ext cx="2257999" cy="2258001"/>
          </a:xfrm>
          <a:prstGeom prst="rect">
            <a:avLst/>
          </a:prstGeom>
          <a:noFill/>
          <a:ln>
            <a:noFill/>
          </a:ln>
        </p:spPr>
      </p:pic>
      <p:pic>
        <p:nvPicPr>
          <p:cNvPr id="277" name="Google Shape;277;p37"/>
          <p:cNvPicPr preferRelativeResize="0"/>
          <p:nvPr/>
        </p:nvPicPr>
        <p:blipFill>
          <a:blip r:embed="rId4">
            <a:alphaModFix/>
          </a:blip>
          <a:stretch>
            <a:fillRect/>
          </a:stretch>
        </p:blipFill>
        <p:spPr>
          <a:xfrm>
            <a:off x="6498450" y="2289725"/>
            <a:ext cx="2342550" cy="23425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8"/>
          <p:cNvSpPr txBox="1">
            <a:spLocks noGrp="1"/>
          </p:cNvSpPr>
          <p:nvPr>
            <p:ph type="title"/>
          </p:nvPr>
        </p:nvSpPr>
        <p:spPr>
          <a:xfrm>
            <a:off x="208050" y="-14485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tr" sz="2800" b="1"/>
              <a:t>Eğlence Amacı &amp; Kısa Video</a:t>
            </a:r>
            <a:endParaRPr sz="5900" b="1"/>
          </a:p>
        </p:txBody>
      </p:sp>
      <p:sp>
        <p:nvSpPr>
          <p:cNvPr id="283" name="Google Shape;283;p38"/>
          <p:cNvSpPr txBox="1">
            <a:spLocks noGrp="1"/>
          </p:cNvSpPr>
          <p:nvPr>
            <p:ph type="subTitle" idx="1"/>
          </p:nvPr>
        </p:nvSpPr>
        <p:spPr>
          <a:xfrm>
            <a:off x="135125" y="1937101"/>
            <a:ext cx="4045200" cy="126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tr" b="1">
                <a:solidFill>
                  <a:schemeClr val="dk1"/>
                </a:solidFill>
              </a:rPr>
              <a:t>Katılımcıların "Eğlence" (%50.9) ihtiyacı, modern sosyal medyada ağırlıklı olarak Kısa Form Video formatıyla karşılanmaktadır.</a:t>
            </a:r>
            <a:endParaRPr sz="3100" b="1">
              <a:solidFill>
                <a:schemeClr val="dk1"/>
              </a:solidFill>
            </a:endParaRPr>
          </a:p>
        </p:txBody>
      </p:sp>
      <p:sp>
        <p:nvSpPr>
          <p:cNvPr id="284" name="Google Shape;284;p38"/>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endParaRPr/>
          </a:p>
        </p:txBody>
      </p:sp>
      <p:pic>
        <p:nvPicPr>
          <p:cNvPr id="285" name="Google Shape;285;p38"/>
          <p:cNvPicPr preferRelativeResize="0"/>
          <p:nvPr/>
        </p:nvPicPr>
        <p:blipFill>
          <a:blip r:embed="rId3">
            <a:alphaModFix/>
          </a:blip>
          <a:stretch>
            <a:fillRect/>
          </a:stretch>
        </p:blipFill>
        <p:spPr>
          <a:xfrm>
            <a:off x="4832275" y="446550"/>
            <a:ext cx="1660100" cy="1660100"/>
          </a:xfrm>
          <a:prstGeom prst="rect">
            <a:avLst/>
          </a:prstGeom>
          <a:noFill/>
          <a:ln>
            <a:noFill/>
          </a:ln>
        </p:spPr>
      </p:pic>
      <p:pic>
        <p:nvPicPr>
          <p:cNvPr id="286" name="Google Shape;286;p38"/>
          <p:cNvPicPr preferRelativeResize="0"/>
          <p:nvPr/>
        </p:nvPicPr>
        <p:blipFill>
          <a:blip r:embed="rId4">
            <a:alphaModFix/>
          </a:blip>
          <a:stretch>
            <a:fillRect/>
          </a:stretch>
        </p:blipFill>
        <p:spPr>
          <a:xfrm>
            <a:off x="6313125" y="2412202"/>
            <a:ext cx="2258975" cy="22589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9"/>
          <p:cNvSpPr txBox="1">
            <a:spLocks noGrp="1"/>
          </p:cNvSpPr>
          <p:nvPr>
            <p:ph type="title"/>
          </p:nvPr>
        </p:nvSpPr>
        <p:spPr>
          <a:xfrm>
            <a:off x="265500" y="-50060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tr" b="1"/>
              <a:t>Genel Sonuç</a:t>
            </a:r>
            <a:endParaRPr b="1"/>
          </a:p>
        </p:txBody>
      </p:sp>
      <p:sp>
        <p:nvSpPr>
          <p:cNvPr id="292" name="Google Shape;292;p39"/>
          <p:cNvSpPr txBox="1">
            <a:spLocks noGrp="1"/>
          </p:cNvSpPr>
          <p:nvPr>
            <p:ph type="subTitle" idx="1"/>
          </p:nvPr>
        </p:nvSpPr>
        <p:spPr>
          <a:xfrm>
            <a:off x="265500" y="1160751"/>
            <a:ext cx="4045200" cy="12693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tr" sz="1900" b="1">
                <a:solidFill>
                  <a:schemeClr val="dk1"/>
                </a:solidFill>
              </a:rPr>
              <a:t>Anket, gençlerin sosyal medya kullanım alışkanlıklarının (özellikle TikTok ve kısa videoların), yüksek düzeyde odaklanma sorunları ve bağımlılık hissi ile güçlü bir şekilde ilişkili olduğunu ortaya koymaktadır. Kullanıcılar bu olumsuz etkilerin farkındadır ve azaltmak için çaba göstermektedir.</a:t>
            </a:r>
            <a:endParaRPr sz="1900" b="1">
              <a:solidFill>
                <a:schemeClr val="dk1"/>
              </a:solidFill>
            </a:endParaRPr>
          </a:p>
          <a:p>
            <a:pPr marL="0" lvl="0" indent="0" algn="ctr" rtl="0">
              <a:spcBef>
                <a:spcPts val="1200"/>
              </a:spcBef>
              <a:spcAft>
                <a:spcPts val="0"/>
              </a:spcAft>
              <a:buNone/>
            </a:pPr>
            <a:endParaRPr b="1"/>
          </a:p>
        </p:txBody>
      </p:sp>
      <p:sp>
        <p:nvSpPr>
          <p:cNvPr id="293" name="Google Shape;293;p3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endParaRPr/>
          </a:p>
        </p:txBody>
      </p:sp>
      <p:pic>
        <p:nvPicPr>
          <p:cNvPr id="294" name="Google Shape;294;p39"/>
          <p:cNvPicPr preferRelativeResize="0"/>
          <p:nvPr/>
        </p:nvPicPr>
        <p:blipFill>
          <a:blip r:embed="rId3">
            <a:alphaModFix/>
          </a:blip>
          <a:stretch>
            <a:fillRect/>
          </a:stretch>
        </p:blipFill>
        <p:spPr>
          <a:xfrm>
            <a:off x="4939500" y="213301"/>
            <a:ext cx="2031923" cy="2031923"/>
          </a:xfrm>
          <a:prstGeom prst="rect">
            <a:avLst/>
          </a:prstGeom>
          <a:noFill/>
          <a:ln>
            <a:noFill/>
          </a:ln>
        </p:spPr>
      </p:pic>
      <p:pic>
        <p:nvPicPr>
          <p:cNvPr id="295" name="Google Shape;295;p39"/>
          <p:cNvPicPr preferRelativeResize="0"/>
          <p:nvPr/>
        </p:nvPicPr>
        <p:blipFill>
          <a:blip r:embed="rId4">
            <a:alphaModFix/>
          </a:blip>
          <a:stretch>
            <a:fillRect/>
          </a:stretch>
        </p:blipFill>
        <p:spPr>
          <a:xfrm>
            <a:off x="6735350" y="2321651"/>
            <a:ext cx="2408649" cy="24086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0"/>
          <p:cNvSpPr txBox="1">
            <a:spLocks noGrp="1"/>
          </p:cNvSpPr>
          <p:nvPr>
            <p:ph type="title"/>
          </p:nvPr>
        </p:nvSpPr>
        <p:spPr>
          <a:xfrm>
            <a:off x="67350" y="26910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tr" sz="3700" b="1"/>
              <a:t>Json  (Javascript Object Notation)Nedir?</a:t>
            </a:r>
            <a:endParaRPr sz="3700" b="1"/>
          </a:p>
        </p:txBody>
      </p:sp>
      <p:pic>
        <p:nvPicPr>
          <p:cNvPr id="301" name="Google Shape;301;p40"/>
          <p:cNvPicPr preferRelativeResize="0"/>
          <p:nvPr/>
        </p:nvPicPr>
        <p:blipFill>
          <a:blip r:embed="rId3">
            <a:alphaModFix/>
          </a:blip>
          <a:stretch>
            <a:fillRect/>
          </a:stretch>
        </p:blipFill>
        <p:spPr>
          <a:xfrm>
            <a:off x="6807325" y="2688975"/>
            <a:ext cx="2266950" cy="2266950"/>
          </a:xfrm>
          <a:prstGeom prst="rect">
            <a:avLst/>
          </a:prstGeom>
          <a:noFill/>
          <a:ln>
            <a:noFill/>
          </a:ln>
        </p:spPr>
      </p:pic>
      <p:pic>
        <p:nvPicPr>
          <p:cNvPr id="302" name="Google Shape;302;p40"/>
          <p:cNvPicPr preferRelativeResize="0"/>
          <p:nvPr/>
        </p:nvPicPr>
        <p:blipFill>
          <a:blip r:embed="rId4">
            <a:alphaModFix/>
          </a:blip>
          <a:stretch>
            <a:fillRect/>
          </a:stretch>
        </p:blipFill>
        <p:spPr>
          <a:xfrm>
            <a:off x="6807325" y="429438"/>
            <a:ext cx="1841725" cy="1841725"/>
          </a:xfrm>
          <a:prstGeom prst="rect">
            <a:avLst/>
          </a:prstGeom>
          <a:noFill/>
          <a:ln>
            <a:noFill/>
          </a:ln>
        </p:spPr>
      </p:pic>
      <p:pic>
        <p:nvPicPr>
          <p:cNvPr id="303" name="Google Shape;303;p40"/>
          <p:cNvPicPr preferRelativeResize="0"/>
          <p:nvPr/>
        </p:nvPicPr>
        <p:blipFill>
          <a:blip r:embed="rId5">
            <a:alphaModFix/>
          </a:blip>
          <a:stretch>
            <a:fillRect/>
          </a:stretch>
        </p:blipFill>
        <p:spPr>
          <a:xfrm>
            <a:off x="421900" y="1950825"/>
            <a:ext cx="3005100" cy="30051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1"/>
          <p:cNvSpPr txBox="1">
            <a:spLocks noGrp="1"/>
          </p:cNvSpPr>
          <p:nvPr>
            <p:ph type="title"/>
          </p:nvPr>
        </p:nvSpPr>
        <p:spPr>
          <a:xfrm>
            <a:off x="206925" y="46865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tr" b="1"/>
              <a:t>Hem insanlar hem makineler okur</a:t>
            </a:r>
            <a:endParaRPr b="1"/>
          </a:p>
        </p:txBody>
      </p:sp>
      <p:sp>
        <p:nvSpPr>
          <p:cNvPr id="309" name="Google Shape;309;p41"/>
          <p:cNvSpPr txBox="1">
            <a:spLocks noGrp="1"/>
          </p:cNvSpPr>
          <p:nvPr>
            <p:ph type="body" idx="2"/>
          </p:nvPr>
        </p:nvSpPr>
        <p:spPr>
          <a:xfrm>
            <a:off x="4869225" y="-45695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r>
              <a:rPr lang="tr" sz="3500" b="1"/>
              <a:t>Verileri Depolamak ve aktarmak için Json</a:t>
            </a:r>
            <a:endParaRPr sz="3500" b="1"/>
          </a:p>
        </p:txBody>
      </p:sp>
      <p:pic>
        <p:nvPicPr>
          <p:cNvPr id="310" name="Google Shape;310;p41"/>
          <p:cNvPicPr preferRelativeResize="0"/>
          <p:nvPr/>
        </p:nvPicPr>
        <p:blipFill>
          <a:blip r:embed="rId3">
            <a:alphaModFix/>
          </a:blip>
          <a:stretch>
            <a:fillRect/>
          </a:stretch>
        </p:blipFill>
        <p:spPr>
          <a:xfrm>
            <a:off x="-81925" y="2762250"/>
            <a:ext cx="2381250" cy="2381250"/>
          </a:xfrm>
          <a:prstGeom prst="rect">
            <a:avLst/>
          </a:prstGeom>
          <a:noFill/>
          <a:ln>
            <a:noFill/>
          </a:ln>
        </p:spPr>
      </p:pic>
      <p:pic>
        <p:nvPicPr>
          <p:cNvPr id="311" name="Google Shape;311;p41"/>
          <p:cNvPicPr preferRelativeResize="0"/>
          <p:nvPr/>
        </p:nvPicPr>
        <p:blipFill>
          <a:blip r:embed="rId4">
            <a:alphaModFix/>
          </a:blip>
          <a:stretch>
            <a:fillRect/>
          </a:stretch>
        </p:blipFill>
        <p:spPr>
          <a:xfrm>
            <a:off x="2467638" y="2033150"/>
            <a:ext cx="1916900" cy="1916900"/>
          </a:xfrm>
          <a:prstGeom prst="rect">
            <a:avLst/>
          </a:prstGeom>
          <a:noFill/>
          <a:ln>
            <a:noFill/>
          </a:ln>
        </p:spPr>
      </p:pic>
      <p:pic>
        <p:nvPicPr>
          <p:cNvPr id="312" name="Google Shape;312;p41"/>
          <p:cNvPicPr preferRelativeResize="0"/>
          <p:nvPr/>
        </p:nvPicPr>
        <p:blipFill>
          <a:blip r:embed="rId5">
            <a:alphaModFix/>
          </a:blip>
          <a:stretch>
            <a:fillRect/>
          </a:stretch>
        </p:blipFill>
        <p:spPr>
          <a:xfrm>
            <a:off x="6580928" y="2571750"/>
            <a:ext cx="2044425" cy="2044425"/>
          </a:xfrm>
          <a:prstGeom prst="rect">
            <a:avLst/>
          </a:prstGeom>
          <a:noFill/>
          <a:ln>
            <a:noFill/>
          </a:ln>
        </p:spPr>
      </p:pic>
      <p:pic>
        <p:nvPicPr>
          <p:cNvPr id="313" name="Google Shape;313;p41"/>
          <p:cNvPicPr preferRelativeResize="0"/>
          <p:nvPr/>
        </p:nvPicPr>
        <p:blipFill>
          <a:blip r:embed="rId6">
            <a:alphaModFix/>
          </a:blip>
          <a:stretch>
            <a:fillRect/>
          </a:stretch>
        </p:blipFill>
        <p:spPr>
          <a:xfrm>
            <a:off x="4759537" y="2699275"/>
            <a:ext cx="1600550" cy="16005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2"/>
          <p:cNvSpPr txBox="1">
            <a:spLocks noGrp="1"/>
          </p:cNvSpPr>
          <p:nvPr>
            <p:ph type="title"/>
          </p:nvPr>
        </p:nvSpPr>
        <p:spPr>
          <a:xfrm>
            <a:off x="265500" y="17865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tr" b="1"/>
              <a:t>Kaynakça</a:t>
            </a:r>
            <a:endParaRPr b="1"/>
          </a:p>
        </p:txBody>
      </p:sp>
      <p:sp>
        <p:nvSpPr>
          <p:cNvPr id="319" name="Google Shape;319;p42"/>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tr">
                <a:solidFill>
                  <a:schemeClr val="dk1"/>
                </a:solidFill>
              </a:rPr>
              <a:t>https://aws.amazon.com/tr/compare/the-difference-between-json-xml</a:t>
            </a:r>
            <a:endParaRPr>
              <a:solidFill>
                <a:schemeClr val="dk1"/>
              </a:solidFill>
            </a:endParaRPr>
          </a:p>
        </p:txBody>
      </p:sp>
      <p:sp>
        <p:nvSpPr>
          <p:cNvPr id="320" name="Google Shape;320;p42"/>
          <p:cNvSpPr txBox="1">
            <a:spLocks noGrp="1"/>
          </p:cNvSpPr>
          <p:nvPr>
            <p:ph type="body" idx="2"/>
          </p:nvPr>
        </p:nvSpPr>
        <p:spPr>
          <a:xfrm>
            <a:off x="5033225" y="-3369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r>
              <a:rPr lang="tr" sz="3500" b="1"/>
              <a:t>GÖRSELLER</a:t>
            </a:r>
            <a:endParaRPr sz="3500" b="1"/>
          </a:p>
        </p:txBody>
      </p:sp>
      <p:sp>
        <p:nvSpPr>
          <p:cNvPr id="321" name="Google Shape;321;p42"/>
          <p:cNvSpPr txBox="1"/>
          <p:nvPr/>
        </p:nvSpPr>
        <p:spPr>
          <a:xfrm>
            <a:off x="5239575" y="2769000"/>
            <a:ext cx="30204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tr" sz="2200">
                <a:solidFill>
                  <a:schemeClr val="lt1"/>
                </a:solidFill>
                <a:latin typeface="Roboto"/>
                <a:ea typeface="Roboto"/>
                <a:cs typeface="Roboto"/>
                <a:sym typeface="Roboto"/>
              </a:rPr>
              <a:t>https://www.flaticon.com/search?word=json</a:t>
            </a:r>
            <a:endParaRPr sz="2200">
              <a:solidFill>
                <a:schemeClr val="lt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Ekran Gösterisi (16:9)</PresentationFormat>
  <Slides>30</Slides>
  <Notes>30</Notes>
  <HiddenSlides>0</HiddenSlides>
  <ScaleCrop>false</ScaleCrop>
  <HeadingPairs>
    <vt:vector size="4" baseType="variant">
      <vt:variant>
        <vt:lpstr>Tema</vt:lpstr>
      </vt:variant>
      <vt:variant>
        <vt:i4>1</vt:i4>
      </vt:variant>
      <vt:variant>
        <vt:lpstr>Slayt Başlıkları</vt:lpstr>
      </vt:variant>
      <vt:variant>
        <vt:i4>30</vt:i4>
      </vt:variant>
    </vt:vector>
  </HeadingPairs>
  <TitlesOfParts>
    <vt:vector size="31" baseType="lpstr">
      <vt:lpstr>Geometric</vt:lpstr>
      <vt:lpstr>Sosyal Medyanın Gençlerin Odaklanma Düzeyi Üzerindeki Etkisi</vt:lpstr>
      <vt:lpstr>Araştırmada Hangi Yöntemi Kullandık?</vt:lpstr>
      <vt:lpstr>Bu Ankette Neler Var?</vt:lpstr>
      <vt:lpstr>Anketin Sonuçları</vt:lpstr>
      <vt:lpstr>PowerPoint Sunusu</vt:lpstr>
      <vt:lpstr>PowerPoint Sunusu</vt:lpstr>
      <vt:lpstr>PowerPoint Sunusu</vt:lpstr>
      <vt:lpstr>PowerPoint Sunusu</vt:lpstr>
      <vt:lpstr>PowerPoint Sunusu</vt:lpstr>
      <vt:lpstr>PowerPoint Sunusu</vt:lpstr>
      <vt:lpstr>En çok hangi sosyal medya içeriklerini tüketiyorsunuz?  </vt:lpstr>
      <vt:lpstr>PowerPoint Sunusu</vt:lpstr>
      <vt:lpstr>Sosyal Medya kullanımızın hayatınıza olumsuz etki ettiğini düşünüyor musunuz?(1-Kesinlikle hayır 5-Kesinlikle evet)  </vt:lpstr>
      <vt:lpstr>PowerPoint Sunusu</vt:lpstr>
      <vt:lpstr>Okul veya başka bir alanda odaklanma sorunları yaşadığınızı düşünüyor musunuz? (1-Kesinlikle hayır 5-Kesinlikle evet)  </vt:lpstr>
      <vt:lpstr>PowerPoint Sunusu</vt:lpstr>
      <vt:lpstr> Sosyal medya bağımlısı olduğunuzu düşünüyor musunuz?       </vt:lpstr>
      <vt:lpstr>PowerPoint Sunusu</vt:lpstr>
      <vt:lpstr>    Sosyal medya kullanımınızı azaltmayı hiç denediniz mi? (1-Kesinlikle hayır 5-Kesinlikle evet)    </vt:lpstr>
      <vt:lpstr>PowerPoint Sunusu</vt:lpstr>
      <vt:lpstr>Sonuç Raporu</vt:lpstr>
      <vt:lpstr>  Odaklanma Sorunlarının Şiddeti  </vt:lpstr>
      <vt:lpstr> TikTok &amp; Odaklanma Sorunu</vt:lpstr>
      <vt:lpstr> Kısa Video &amp; Odaklanma Sorunu </vt:lpstr>
      <vt:lpstr>Öğrenme Amacı &amp; Uzun İçerik</vt:lpstr>
      <vt:lpstr>Eğlence Amacı &amp; Kısa Video</vt:lpstr>
      <vt:lpstr>Genel Sonuç</vt:lpstr>
      <vt:lpstr>Json  (Javascript Object Notation)Nedir?</vt:lpstr>
      <vt:lpstr>Hem insanlar hem makineler okur</vt:lpstr>
      <vt:lpstr>Kaynakça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8</cp:revision>
  <dcterms:modified xsi:type="dcterms:W3CDTF">2025-11-26T22:15:10Z</dcterms:modified>
</cp:coreProperties>
</file>